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95" r:id="rId5"/>
    <p:sldId id="284" r:id="rId6"/>
    <p:sldId id="292" r:id="rId7"/>
    <p:sldId id="298" r:id="rId8"/>
    <p:sldId id="300" r:id="rId9"/>
    <p:sldId id="293" r:id="rId10"/>
    <p:sldId id="294" r:id="rId11"/>
    <p:sldId id="286" r:id="rId12"/>
    <p:sldId id="303" r:id="rId13"/>
    <p:sldId id="304" r:id="rId14"/>
    <p:sldId id="299" r:id="rId15"/>
    <p:sldId id="30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9" autoAdjust="0"/>
  </p:normalViewPr>
  <p:slideViewPr>
    <p:cSldViewPr snapToGrid="0" snapToObjects="1" showGuides="1">
      <p:cViewPr varScale="1">
        <p:scale>
          <a:sx n="75" d="100"/>
          <a:sy n="75" d="100"/>
        </p:scale>
        <p:origin x="902" y="48"/>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9/19/2024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6</a:t>
            </a:fld>
            <a:endParaRPr lang="en-US" dirty="0"/>
          </a:p>
        </p:txBody>
      </p:sp>
    </p:spTree>
    <p:extLst>
      <p:ext uri="{BB962C8B-B14F-4D97-AF65-F5344CB8AC3E}">
        <p14:creationId xmlns:p14="http://schemas.microsoft.com/office/powerpoint/2010/main" val="130455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8</a:t>
            </a:fld>
            <a:endParaRPr lang="en-US" dirty="0"/>
          </a:p>
        </p:txBody>
      </p:sp>
    </p:spTree>
    <p:extLst>
      <p:ext uri="{BB962C8B-B14F-4D97-AF65-F5344CB8AC3E}">
        <p14:creationId xmlns:p14="http://schemas.microsoft.com/office/powerpoint/2010/main" val="4240832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9</a:t>
            </a:fld>
            <a:endParaRPr lang="en-US" dirty="0"/>
          </a:p>
        </p:txBody>
      </p:sp>
    </p:spTree>
    <p:extLst>
      <p:ext uri="{BB962C8B-B14F-4D97-AF65-F5344CB8AC3E}">
        <p14:creationId xmlns:p14="http://schemas.microsoft.com/office/powerpoint/2010/main" val="4084276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10</a:t>
            </a:fld>
            <a:endParaRPr lang="en-US" dirty="0"/>
          </a:p>
        </p:txBody>
      </p:sp>
    </p:spTree>
    <p:extLst>
      <p:ext uri="{BB962C8B-B14F-4D97-AF65-F5344CB8AC3E}">
        <p14:creationId xmlns:p14="http://schemas.microsoft.com/office/powerpoint/2010/main" val="171952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ayout 1">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AFD94275-EC93-C87A-6BBB-425F15188230}"/>
              </a:ext>
              <a:ext uri="{C183D7F6-B498-43B3-948B-1728B52AA6E4}">
                <adec:decorative xmlns:adec="http://schemas.microsoft.com/office/drawing/2017/decorative" val="1"/>
              </a:ext>
            </a:extLst>
          </p:cNvPr>
          <p:cNvSpPr/>
          <p:nvPr userDrawn="1"/>
        </p:nvSpPr>
        <p:spPr>
          <a:xfrm>
            <a:off x="7199519" y="2688324"/>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4" name="Oval 3">
            <a:extLst>
              <a:ext uri="{FF2B5EF4-FFF2-40B4-BE49-F238E27FC236}">
                <a16:creationId xmlns:a16="http://schemas.microsoft.com/office/drawing/2014/main" id="{667DDEA5-75C4-FF17-3A23-7ECAF0CD4B61}"/>
              </a:ext>
              <a:ext uri="{C183D7F6-B498-43B3-948B-1728B52AA6E4}">
                <adec:decorative xmlns:adec="http://schemas.microsoft.com/office/drawing/2017/decorative" val="1"/>
              </a:ext>
            </a:extLst>
          </p:cNvPr>
          <p:cNvSpPr/>
          <p:nvPr userDrawn="1"/>
        </p:nvSpPr>
        <p:spPr>
          <a:xfrm>
            <a:off x="10247518" y="2688324"/>
            <a:ext cx="840963" cy="840963"/>
          </a:xfrm>
          <a:prstGeom prst="ellipse">
            <a:avLst/>
          </a:prstGeom>
          <a:solidFill>
            <a:schemeClr val="accent3">
              <a:lumMod val="60000"/>
              <a:lumOff val="4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EBE36D08-1D47-1B17-EFCA-4F96B6E713C3}"/>
              </a:ext>
              <a:ext uri="{C183D7F6-B498-43B3-948B-1728B52AA6E4}">
                <adec:decorative xmlns:adec="http://schemas.microsoft.com/office/drawing/2017/decorative" val="1"/>
              </a:ext>
            </a:extLst>
          </p:cNvPr>
          <p:cNvSpPr/>
          <p:nvPr userDrawn="1"/>
        </p:nvSpPr>
        <p:spPr>
          <a:xfrm>
            <a:off x="4151519" y="2688324"/>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0E23803-C97E-0679-3488-8C245D767955}"/>
              </a:ext>
              <a:ext uri="{C183D7F6-B498-43B3-948B-1728B52AA6E4}">
                <adec:decorative xmlns:adec="http://schemas.microsoft.com/office/drawing/2017/decorative" val="1"/>
              </a:ext>
            </a:extLst>
          </p:cNvPr>
          <p:cNvSpPr/>
          <p:nvPr userDrawn="1"/>
        </p:nvSpPr>
        <p:spPr>
          <a:xfrm>
            <a:off x="1098662" y="2688324"/>
            <a:ext cx="840963" cy="840963"/>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FE23D0-0FF0-42C6-B15F-A719DFDD5264}"/>
              </a:ext>
            </a:extLst>
          </p:cNvPr>
          <p:cNvSpPr>
            <a:spLocks noGrp="1"/>
          </p:cNvSpPr>
          <p:nvPr>
            <p:ph type="title" hasCustomPrompt="1"/>
          </p:nvPr>
        </p:nvSpPr>
        <p:spPr>
          <a:xfrm>
            <a:off x="230124" y="457199"/>
            <a:ext cx="11731752" cy="1164565"/>
          </a:xfrm>
        </p:spPr>
        <p:txBody>
          <a:bodyPr/>
          <a:lstStyle>
            <a:lvl1pPr>
              <a:defRPr/>
            </a:lvl1pPr>
          </a:lstStyle>
          <a:p>
            <a:r>
              <a:rPr lang="en-US" dirty="0"/>
              <a:t>Click to add title</a:t>
            </a:r>
          </a:p>
        </p:txBody>
      </p:sp>
      <p:sp>
        <p:nvSpPr>
          <p:cNvPr id="35" name="Picture Placeholder 34">
            <a:extLst>
              <a:ext uri="{FF2B5EF4-FFF2-40B4-BE49-F238E27FC236}">
                <a16:creationId xmlns:a16="http://schemas.microsoft.com/office/drawing/2014/main" id="{EAA216C1-AB2E-40F5-9FEB-99A051529BBC}"/>
              </a:ext>
            </a:extLst>
          </p:cNvPr>
          <p:cNvSpPr>
            <a:spLocks noGrp="1"/>
          </p:cNvSpPr>
          <p:nvPr>
            <p:ph type="pic" sz="quarter" idx="10"/>
          </p:nvPr>
        </p:nvSpPr>
        <p:spPr>
          <a:xfrm>
            <a:off x="1361591"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D77457B-088A-4D58-BA8E-B758F3A6A0B0}"/>
              </a:ext>
            </a:extLst>
          </p:cNvPr>
          <p:cNvSpPr>
            <a:spLocks noGrp="1"/>
          </p:cNvSpPr>
          <p:nvPr>
            <p:ph type="body" sz="quarter" idx="18" hasCustomPrompt="1"/>
          </p:nvPr>
        </p:nvSpPr>
        <p:spPr>
          <a:xfrm>
            <a:off x="233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0" name="Text Placeholder 39">
            <a:extLst>
              <a:ext uri="{FF2B5EF4-FFF2-40B4-BE49-F238E27FC236}">
                <a16:creationId xmlns:a16="http://schemas.microsoft.com/office/drawing/2014/main" id="{26074907-686A-4144-BB8F-791A360F4CA9}"/>
              </a:ext>
            </a:extLst>
          </p:cNvPr>
          <p:cNvSpPr>
            <a:spLocks noGrp="1"/>
          </p:cNvSpPr>
          <p:nvPr>
            <p:ph type="body" sz="quarter" idx="14" hasCustomPrompt="1"/>
          </p:nvPr>
        </p:nvSpPr>
        <p:spPr>
          <a:xfrm>
            <a:off x="439643" y="4491306"/>
            <a:ext cx="2158999"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6" name="Picture Placeholder 34">
            <a:extLst>
              <a:ext uri="{FF2B5EF4-FFF2-40B4-BE49-F238E27FC236}">
                <a16:creationId xmlns:a16="http://schemas.microsoft.com/office/drawing/2014/main" id="{FAEA8B42-3F7F-41AD-BABE-4EEB23482AE7}"/>
              </a:ext>
            </a:extLst>
          </p:cNvPr>
          <p:cNvSpPr>
            <a:spLocks noGrp="1"/>
          </p:cNvSpPr>
          <p:nvPr>
            <p:ph type="pic" sz="quarter" idx="11"/>
          </p:nvPr>
        </p:nvSpPr>
        <p:spPr>
          <a:xfrm>
            <a:off x="442092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8" name="Text Placeholder 46">
            <a:extLst>
              <a:ext uri="{FF2B5EF4-FFF2-40B4-BE49-F238E27FC236}">
                <a16:creationId xmlns:a16="http://schemas.microsoft.com/office/drawing/2014/main" id="{DD29B92B-5D6C-4077-8F1A-743E03C13A11}"/>
              </a:ext>
            </a:extLst>
          </p:cNvPr>
          <p:cNvSpPr>
            <a:spLocks noGrp="1"/>
          </p:cNvSpPr>
          <p:nvPr>
            <p:ph type="body" sz="quarter" idx="19" hasCustomPrompt="1"/>
          </p:nvPr>
        </p:nvSpPr>
        <p:spPr>
          <a:xfrm>
            <a:off x="3281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008E0623-EC20-45C5-91A6-0F11089BC4D6}"/>
              </a:ext>
            </a:extLst>
          </p:cNvPr>
          <p:cNvSpPr>
            <a:spLocks noGrp="1"/>
          </p:cNvSpPr>
          <p:nvPr>
            <p:ph type="body" sz="quarter" idx="15" hasCustomPrompt="1"/>
          </p:nvPr>
        </p:nvSpPr>
        <p:spPr>
          <a:xfrm>
            <a:off x="3580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7" name="Picture Placeholder 34">
            <a:extLst>
              <a:ext uri="{FF2B5EF4-FFF2-40B4-BE49-F238E27FC236}">
                <a16:creationId xmlns:a16="http://schemas.microsoft.com/office/drawing/2014/main" id="{7567D676-2C80-4141-893B-11FCC59F8435}"/>
              </a:ext>
            </a:extLst>
          </p:cNvPr>
          <p:cNvSpPr>
            <a:spLocks noGrp="1"/>
          </p:cNvSpPr>
          <p:nvPr>
            <p:ph type="pic" sz="quarter" idx="12"/>
          </p:nvPr>
        </p:nvSpPr>
        <p:spPr>
          <a:xfrm>
            <a:off x="740729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9" name="Text Placeholder 46">
            <a:extLst>
              <a:ext uri="{FF2B5EF4-FFF2-40B4-BE49-F238E27FC236}">
                <a16:creationId xmlns:a16="http://schemas.microsoft.com/office/drawing/2014/main" id="{13F3E81B-98F9-43EF-B142-E08146C84EC6}"/>
              </a:ext>
            </a:extLst>
          </p:cNvPr>
          <p:cNvSpPr>
            <a:spLocks noGrp="1"/>
          </p:cNvSpPr>
          <p:nvPr>
            <p:ph type="body" sz="quarter" idx="20" hasCustomPrompt="1"/>
          </p:nvPr>
        </p:nvSpPr>
        <p:spPr>
          <a:xfrm>
            <a:off x="6326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4" name="Text Placeholder 39">
            <a:extLst>
              <a:ext uri="{FF2B5EF4-FFF2-40B4-BE49-F238E27FC236}">
                <a16:creationId xmlns:a16="http://schemas.microsoft.com/office/drawing/2014/main" id="{61293D0A-B2E6-4C99-A936-14475FCCE59B}"/>
              </a:ext>
            </a:extLst>
          </p:cNvPr>
          <p:cNvSpPr>
            <a:spLocks noGrp="1"/>
          </p:cNvSpPr>
          <p:nvPr>
            <p:ph type="body" sz="quarter" idx="16" hasCustomPrompt="1"/>
          </p:nvPr>
        </p:nvSpPr>
        <p:spPr>
          <a:xfrm>
            <a:off x="6628138"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8" name="Picture Placeholder 34">
            <a:extLst>
              <a:ext uri="{FF2B5EF4-FFF2-40B4-BE49-F238E27FC236}">
                <a16:creationId xmlns:a16="http://schemas.microsoft.com/office/drawing/2014/main" id="{6F952DCC-32A4-47A9-94B1-DD217C6081C8}"/>
              </a:ext>
            </a:extLst>
          </p:cNvPr>
          <p:cNvSpPr>
            <a:spLocks noGrp="1"/>
          </p:cNvSpPr>
          <p:nvPr>
            <p:ph type="pic" sz="quarter" idx="13"/>
          </p:nvPr>
        </p:nvSpPr>
        <p:spPr>
          <a:xfrm>
            <a:off x="1045694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DBC70D5F-BACB-4A84-A4D0-71ECD4393E28}"/>
              </a:ext>
            </a:extLst>
          </p:cNvPr>
          <p:cNvSpPr>
            <a:spLocks noGrp="1"/>
          </p:cNvSpPr>
          <p:nvPr>
            <p:ph type="body" sz="quarter" idx="21" hasCustomPrompt="1"/>
          </p:nvPr>
        </p:nvSpPr>
        <p:spPr>
          <a:xfrm>
            <a:off x="9374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5" name="Text Placeholder 39">
            <a:extLst>
              <a:ext uri="{FF2B5EF4-FFF2-40B4-BE49-F238E27FC236}">
                <a16:creationId xmlns:a16="http://schemas.microsoft.com/office/drawing/2014/main" id="{1527FC22-EC4A-4577-9F30-4B76AC7BCE0A}"/>
              </a:ext>
            </a:extLst>
          </p:cNvPr>
          <p:cNvSpPr>
            <a:spLocks noGrp="1"/>
          </p:cNvSpPr>
          <p:nvPr>
            <p:ph type="body" sz="quarter" idx="17" hasCustomPrompt="1"/>
          </p:nvPr>
        </p:nvSpPr>
        <p:spPr>
          <a:xfrm>
            <a:off x="9676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grpSp>
        <p:nvGrpSpPr>
          <p:cNvPr id="12" name="Group 11">
            <a:extLst>
              <a:ext uri="{FF2B5EF4-FFF2-40B4-BE49-F238E27FC236}">
                <a16:creationId xmlns:a16="http://schemas.microsoft.com/office/drawing/2014/main" id="{B43A5E61-4930-643F-C870-0B885BD5D193}"/>
              </a:ext>
              <a:ext uri="{C183D7F6-B498-43B3-948B-1728B52AA6E4}">
                <adec:decorative xmlns:adec="http://schemas.microsoft.com/office/drawing/2017/decorative" val="1"/>
              </a:ext>
            </a:extLst>
          </p:cNvPr>
          <p:cNvGrpSpPr/>
          <p:nvPr userDrawn="1"/>
        </p:nvGrpSpPr>
        <p:grpSpPr>
          <a:xfrm>
            <a:off x="1434661" y="3748073"/>
            <a:ext cx="9317820" cy="168964"/>
            <a:chOff x="1434661" y="3748073"/>
            <a:chExt cx="9317820" cy="168964"/>
          </a:xfrm>
        </p:grpSpPr>
        <p:cxnSp>
          <p:nvCxnSpPr>
            <p:cNvPr id="7" name="Straight Connector 6">
              <a:extLst>
                <a:ext uri="{FF2B5EF4-FFF2-40B4-BE49-F238E27FC236}">
                  <a16:creationId xmlns:a16="http://schemas.microsoft.com/office/drawing/2014/main" id="{9C0B5E23-017C-98F8-56D6-A44D68237192}"/>
                </a:ext>
                <a:ext uri="{C183D7F6-B498-43B3-948B-1728B52AA6E4}">
                  <adec:decorative xmlns:adec="http://schemas.microsoft.com/office/drawing/2017/decorative" val="1"/>
                </a:ext>
              </a:extLst>
            </p:cNvPr>
            <p:cNvCxnSpPr>
              <a:cxnSpLocks/>
              <a:stCxn id="11" idx="6"/>
              <a:endCxn id="8" idx="2"/>
            </p:cNvCxnSpPr>
            <p:nvPr userDrawn="1"/>
          </p:nvCxnSpPr>
          <p:spPr>
            <a:xfrm flipH="1">
              <a:off x="1434661" y="3832555"/>
              <a:ext cx="9317820" cy="0"/>
            </a:xfrm>
            <a:prstGeom prst="line">
              <a:avLst/>
            </a:prstGeom>
            <a:ln w="28575">
              <a:solidFill>
                <a:schemeClr val="tx1"/>
              </a:solidFill>
            </a:ln>
          </p:spPr>
          <p:style>
            <a:lnRef idx="1">
              <a:schemeClr val="accent2"/>
            </a:lnRef>
            <a:fillRef idx="0">
              <a:schemeClr val="accent2"/>
            </a:fillRef>
            <a:effectRef idx="0">
              <a:schemeClr val="accent2"/>
            </a:effectRef>
            <a:fontRef idx="minor">
              <a:schemeClr val="tx1"/>
            </a:fontRef>
          </p:style>
        </p:cxnSp>
        <p:sp>
          <p:nvSpPr>
            <p:cNvPr id="8" name="Oval 7" descr="timeline markers">
              <a:extLst>
                <a:ext uri="{FF2B5EF4-FFF2-40B4-BE49-F238E27FC236}">
                  <a16:creationId xmlns:a16="http://schemas.microsoft.com/office/drawing/2014/main" id="{C9B4712F-53D8-B865-ED94-DB8B8FC12CF6}"/>
                </a:ext>
              </a:extLst>
            </p:cNvPr>
            <p:cNvSpPr/>
            <p:nvPr userDrawn="1"/>
          </p:nvSpPr>
          <p:spPr>
            <a:xfrm>
              <a:off x="1434661"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9" name="Oval 8" descr="timeline markers">
              <a:extLst>
                <a:ext uri="{FF2B5EF4-FFF2-40B4-BE49-F238E27FC236}">
                  <a16:creationId xmlns:a16="http://schemas.microsoft.com/office/drawing/2014/main" id="{2004C008-7BEB-2666-E302-67CE046DD70A}"/>
                </a:ext>
              </a:extLst>
            </p:cNvPr>
            <p:cNvSpPr/>
            <p:nvPr userDrawn="1"/>
          </p:nvSpPr>
          <p:spPr>
            <a:xfrm>
              <a:off x="4487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0" name="Oval 9" descr="timeline markers">
              <a:extLst>
                <a:ext uri="{FF2B5EF4-FFF2-40B4-BE49-F238E27FC236}">
                  <a16:creationId xmlns:a16="http://schemas.microsoft.com/office/drawing/2014/main" id="{091ECB05-AF52-EC56-7C38-6AE57F46F055}"/>
                </a:ext>
              </a:extLst>
            </p:cNvPr>
            <p:cNvSpPr/>
            <p:nvPr userDrawn="1"/>
          </p:nvSpPr>
          <p:spPr>
            <a:xfrm>
              <a:off x="7535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1" name="Oval 10" descr="timeline markers">
              <a:extLst>
                <a:ext uri="{FF2B5EF4-FFF2-40B4-BE49-F238E27FC236}">
                  <a16:creationId xmlns:a16="http://schemas.microsoft.com/office/drawing/2014/main" id="{9FA5B378-820A-AD6F-C2F7-12D55DA9E413}"/>
                </a:ext>
              </a:extLst>
            </p:cNvPr>
            <p:cNvSpPr/>
            <p:nvPr userDrawn="1"/>
          </p:nvSpPr>
          <p:spPr>
            <a:xfrm>
              <a:off x="10583517"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Tree>
    <p:extLst>
      <p:ext uri="{BB962C8B-B14F-4D97-AF65-F5344CB8AC3E}">
        <p14:creationId xmlns:p14="http://schemas.microsoft.com/office/powerpoint/2010/main" val="3720066877"/>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Layout 2">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F74C26D-17C1-BDA0-19BD-8D0D7B66B8AC}"/>
              </a:ext>
              <a:ext uri="{C183D7F6-B498-43B3-948B-1728B52AA6E4}">
                <adec:decorative xmlns:adec="http://schemas.microsoft.com/office/drawing/2017/decorative" val="1"/>
              </a:ext>
            </a:extLst>
          </p:cNvPr>
          <p:cNvGrpSpPr/>
          <p:nvPr userDrawn="1"/>
        </p:nvGrpSpPr>
        <p:grpSpPr>
          <a:xfrm>
            <a:off x="976547" y="1458965"/>
            <a:ext cx="10278189" cy="5752254"/>
            <a:chOff x="976547" y="1458965"/>
            <a:chExt cx="10278189" cy="5752254"/>
          </a:xfrm>
        </p:grpSpPr>
        <p:grpSp>
          <p:nvGrpSpPr>
            <p:cNvPr id="9" name="Group 8" descr="timeline">
              <a:extLst>
                <a:ext uri="{FF2B5EF4-FFF2-40B4-BE49-F238E27FC236}">
                  <a16:creationId xmlns:a16="http://schemas.microsoft.com/office/drawing/2014/main" id="{951A9006-1AA5-8FDD-7DF7-819B24CF74B4}"/>
                </a:ext>
              </a:extLst>
            </p:cNvPr>
            <p:cNvGrpSpPr/>
            <p:nvPr userDrawn="1"/>
          </p:nvGrpSpPr>
          <p:grpSpPr>
            <a:xfrm>
              <a:off x="976547" y="1458965"/>
              <a:ext cx="10278189" cy="5752254"/>
              <a:chOff x="976547" y="1458965"/>
              <a:chExt cx="10278189" cy="5752254"/>
            </a:xfrm>
          </p:grpSpPr>
          <p:grpSp>
            <p:nvGrpSpPr>
              <p:cNvPr id="10" name="Group 9">
                <a:extLst>
                  <a:ext uri="{FF2B5EF4-FFF2-40B4-BE49-F238E27FC236}">
                    <a16:creationId xmlns:a16="http://schemas.microsoft.com/office/drawing/2014/main" id="{ADD408A8-97F2-7E05-F618-3BB598061DEA}"/>
                  </a:ext>
                </a:extLst>
              </p:cNvPr>
              <p:cNvGrpSpPr/>
              <p:nvPr/>
            </p:nvGrpSpPr>
            <p:grpSpPr>
              <a:xfrm rot="5400000" flipH="1">
                <a:off x="9555848" y="2219844"/>
                <a:ext cx="1624126" cy="1773651"/>
                <a:chOff x="6415077" y="1171530"/>
                <a:chExt cx="1890380" cy="1890380"/>
              </a:xfrm>
            </p:grpSpPr>
            <p:sp>
              <p:nvSpPr>
                <p:cNvPr id="19" name="Arc 18">
                  <a:extLst>
                    <a:ext uri="{FF2B5EF4-FFF2-40B4-BE49-F238E27FC236}">
                      <a16:creationId xmlns:a16="http://schemas.microsoft.com/office/drawing/2014/main" id="{D77258D4-274F-76CE-B5FA-8B62FC13BF3A}"/>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ED37F8D3-A985-DE19-B607-FF73FF4E1DA1}"/>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CCA47E25-A2AE-4878-E96E-6F761C04E974}"/>
                  </a:ext>
                </a:extLst>
              </p:cNvPr>
              <p:cNvGrpSpPr/>
              <p:nvPr/>
            </p:nvGrpSpPr>
            <p:grpSpPr>
              <a:xfrm rot="16200000" flipH="1">
                <a:off x="1051310" y="3843465"/>
                <a:ext cx="1624126" cy="1773651"/>
                <a:chOff x="6415077" y="1171530"/>
                <a:chExt cx="1890380" cy="1890380"/>
              </a:xfrm>
            </p:grpSpPr>
            <p:sp>
              <p:nvSpPr>
                <p:cNvPr id="17" name="Arc 16">
                  <a:extLst>
                    <a:ext uri="{FF2B5EF4-FFF2-40B4-BE49-F238E27FC236}">
                      <a16:creationId xmlns:a16="http://schemas.microsoft.com/office/drawing/2014/main" id="{DFA60F46-4355-4061-61A1-068B43E6F976}"/>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A177BC1C-BB13-ECE7-6D9E-DB1A363D6E85}"/>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2" name="Arc 6">
                <a:extLst>
                  <a:ext uri="{FF2B5EF4-FFF2-40B4-BE49-F238E27FC236}">
                    <a16:creationId xmlns:a16="http://schemas.microsoft.com/office/drawing/2014/main" id="{8EAF3EDC-C75F-ACC6-C4FB-703F6A573A10}"/>
                  </a:ext>
                </a:extLst>
              </p:cNvPr>
              <p:cNvSpPr/>
              <p:nvPr/>
            </p:nvSpPr>
            <p:spPr>
              <a:xfrm rot="16200000" flipH="1">
                <a:off x="1705996" y="1478703"/>
                <a:ext cx="834433" cy="794957"/>
              </a:xfrm>
              <a:custGeom>
                <a:avLst/>
                <a:gdLst>
                  <a:gd name="connsiteX0" fmla="*/ 834432 w 1668865"/>
                  <a:gd name="connsiteY0" fmla="*/ 0 h 1589914"/>
                  <a:gd name="connsiteX1" fmla="*/ 1668865 w 1668865"/>
                  <a:gd name="connsiteY1" fmla="*/ 794957 h 1589914"/>
                  <a:gd name="connsiteX2" fmla="*/ 834433 w 1668865"/>
                  <a:gd name="connsiteY2" fmla="*/ 794957 h 1589914"/>
                  <a:gd name="connsiteX3" fmla="*/ 834432 w 1668865"/>
                  <a:gd name="connsiteY3" fmla="*/ 0 h 1589914"/>
                  <a:gd name="connsiteX0" fmla="*/ 834432 w 1668865"/>
                  <a:gd name="connsiteY0" fmla="*/ 0 h 1589914"/>
                  <a:gd name="connsiteX1" fmla="*/ 1668865 w 1668865"/>
                  <a:gd name="connsiteY1" fmla="*/ 794957 h 1589914"/>
                  <a:gd name="connsiteX0" fmla="*/ 0 w 834433"/>
                  <a:gd name="connsiteY0" fmla="*/ 0 h 794957"/>
                  <a:gd name="connsiteX1" fmla="*/ 834433 w 834433"/>
                  <a:gd name="connsiteY1" fmla="*/ 794957 h 794957"/>
                  <a:gd name="connsiteX2" fmla="*/ 1 w 834433"/>
                  <a:gd name="connsiteY2" fmla="*/ 794957 h 794957"/>
                  <a:gd name="connsiteX3" fmla="*/ 0 w 834433"/>
                  <a:gd name="connsiteY3" fmla="*/ 0 h 794957"/>
                  <a:gd name="connsiteX0" fmla="*/ 64295 w 834433"/>
                  <a:gd name="connsiteY0" fmla="*/ 0 h 794957"/>
                  <a:gd name="connsiteX1" fmla="*/ 834433 w 834433"/>
                  <a:gd name="connsiteY1" fmla="*/ 794957 h 794957"/>
                </a:gdLst>
                <a:ahLst/>
                <a:cxnLst>
                  <a:cxn ang="0">
                    <a:pos x="connsiteX0" y="connsiteY0"/>
                  </a:cxn>
                  <a:cxn ang="0">
                    <a:pos x="connsiteX1" y="connsiteY1"/>
                  </a:cxn>
                </a:cxnLst>
                <a:rect l="l" t="t" r="r" b="b"/>
                <a:pathLst>
                  <a:path w="834433" h="794957" stroke="0" extrusionOk="0">
                    <a:moveTo>
                      <a:pt x="0" y="0"/>
                    </a:moveTo>
                    <a:cubicBezTo>
                      <a:pt x="460845" y="0"/>
                      <a:pt x="834433" y="355914"/>
                      <a:pt x="834433" y="794957"/>
                    </a:cubicBezTo>
                    <a:lnTo>
                      <a:pt x="1" y="794957"/>
                    </a:lnTo>
                    <a:cubicBezTo>
                      <a:pt x="1" y="529971"/>
                      <a:pt x="0" y="264986"/>
                      <a:pt x="0" y="0"/>
                    </a:cubicBezTo>
                    <a:close/>
                  </a:path>
                  <a:path w="834433" h="794957" fill="none">
                    <a:moveTo>
                      <a:pt x="64295" y="0"/>
                    </a:moveTo>
                    <a:cubicBezTo>
                      <a:pt x="525140" y="0"/>
                      <a:pt x="834433" y="355914"/>
                      <a:pt x="834433" y="794957"/>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B90160A2-070D-AACD-0074-4999FFF4D544}"/>
                  </a:ext>
                </a:extLst>
              </p:cNvPr>
              <p:cNvSpPr/>
              <p:nvPr/>
            </p:nvSpPr>
            <p:spPr>
              <a:xfrm rot="5400000" flipH="1">
                <a:off x="5908738" y="5581830"/>
                <a:ext cx="1668865" cy="1589914"/>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ABCB79CD-8D80-B3F8-BE1C-E874A86968E9}"/>
                  </a:ext>
                </a:extLst>
              </p:cNvPr>
              <p:cNvCxnSpPr>
                <a:cxnSpLocks/>
              </p:cNvCxnSpPr>
              <p:nvPr/>
            </p:nvCxnSpPr>
            <p:spPr>
              <a:xfrm flipH="1">
                <a:off x="2489536" y="2293398"/>
                <a:ext cx="78959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15B517-FF7C-6AAF-C73A-64C1E3D882C4}"/>
                  </a:ext>
                </a:extLst>
              </p:cNvPr>
              <p:cNvCxnSpPr>
                <a:cxnSpLocks/>
              </p:cNvCxnSpPr>
              <p:nvPr/>
            </p:nvCxnSpPr>
            <p:spPr>
              <a:xfrm flipH="1">
                <a:off x="1849703" y="3918227"/>
                <a:ext cx="85357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6ECD0F-5724-6B4D-C64B-ED19DB331BF9}"/>
                  </a:ext>
                </a:extLst>
              </p:cNvPr>
              <p:cNvCxnSpPr>
                <a:cxnSpLocks/>
                <a:stCxn id="13" idx="2"/>
              </p:cNvCxnSpPr>
              <p:nvPr/>
            </p:nvCxnSpPr>
            <p:spPr>
              <a:xfrm flipH="1" flipV="1">
                <a:off x="1849705" y="5542113"/>
                <a:ext cx="4893466" cy="2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descr="timeline markers">
              <a:extLst>
                <a:ext uri="{FF2B5EF4-FFF2-40B4-BE49-F238E27FC236}">
                  <a16:creationId xmlns:a16="http://schemas.microsoft.com/office/drawing/2014/main" id="{CF064689-14DA-175E-3ABE-2D82B0BBFD72}"/>
                </a:ext>
              </a:extLst>
            </p:cNvPr>
            <p:cNvSpPr/>
            <p:nvPr userDrawn="1"/>
          </p:nvSpPr>
          <p:spPr>
            <a:xfrm>
              <a:off x="1656253" y="152890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2" name="Oval 21" descr="timeline markers">
              <a:extLst>
                <a:ext uri="{FF2B5EF4-FFF2-40B4-BE49-F238E27FC236}">
                  <a16:creationId xmlns:a16="http://schemas.microsoft.com/office/drawing/2014/main" id="{880D28FE-F3D4-412B-6061-26504D1866FF}"/>
                </a:ext>
              </a:extLst>
            </p:cNvPr>
            <p:cNvSpPr/>
            <p:nvPr userDrawn="1"/>
          </p:nvSpPr>
          <p:spPr>
            <a:xfrm>
              <a:off x="7453646" y="6285904"/>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3" name="Oval 22" descr="timeline markers">
              <a:extLst>
                <a:ext uri="{FF2B5EF4-FFF2-40B4-BE49-F238E27FC236}">
                  <a16:creationId xmlns:a16="http://schemas.microsoft.com/office/drawing/2014/main" id="{F27EC31D-ECF7-2506-30B4-722935FA9D3D}"/>
                </a:ext>
              </a:extLst>
            </p:cNvPr>
            <p:cNvSpPr/>
            <p:nvPr userDrawn="1"/>
          </p:nvSpPr>
          <p:spPr>
            <a:xfrm>
              <a:off x="9081504"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4" name="Oval 23" descr="timeline markers">
              <a:extLst>
                <a:ext uri="{FF2B5EF4-FFF2-40B4-BE49-F238E27FC236}">
                  <a16:creationId xmlns:a16="http://schemas.microsoft.com/office/drawing/2014/main" id="{13B9CBFF-A217-66BA-8175-67EA0304CEC7}"/>
                </a:ext>
              </a:extLst>
            </p:cNvPr>
            <p:cNvSpPr/>
            <p:nvPr userDrawn="1"/>
          </p:nvSpPr>
          <p:spPr>
            <a:xfrm>
              <a:off x="4499321"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5" name="Oval 24" descr="timeline markers">
              <a:extLst>
                <a:ext uri="{FF2B5EF4-FFF2-40B4-BE49-F238E27FC236}">
                  <a16:creationId xmlns:a16="http://schemas.microsoft.com/office/drawing/2014/main" id="{F5F5709F-F6ED-0A7B-9226-0276EEE9CBFF}"/>
                </a:ext>
              </a:extLst>
            </p:cNvPr>
            <p:cNvSpPr/>
            <p:nvPr userDrawn="1"/>
          </p:nvSpPr>
          <p:spPr>
            <a:xfrm>
              <a:off x="2665717"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6" name="Oval 25" descr="timeline markers">
              <a:extLst>
                <a:ext uri="{FF2B5EF4-FFF2-40B4-BE49-F238E27FC236}">
                  <a16:creationId xmlns:a16="http://schemas.microsoft.com/office/drawing/2014/main" id="{B60EC174-B1E8-C2FA-5D98-5E9DAD40CAE5}"/>
                </a:ext>
              </a:extLst>
            </p:cNvPr>
            <p:cNvSpPr/>
            <p:nvPr userDrawn="1"/>
          </p:nvSpPr>
          <p:spPr>
            <a:xfrm>
              <a:off x="6884455"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
        <p:nvSpPr>
          <p:cNvPr id="3" name="Oval 2">
            <a:extLst>
              <a:ext uri="{FF2B5EF4-FFF2-40B4-BE49-F238E27FC236}">
                <a16:creationId xmlns:a16="http://schemas.microsoft.com/office/drawing/2014/main" id="{6463361D-C127-5239-4B87-61B909E83EC0}"/>
              </a:ext>
              <a:ext uri="{C183D7F6-B498-43B3-948B-1728B52AA6E4}">
                <adec:decorative xmlns:adec="http://schemas.microsoft.com/office/drawing/2017/decorative" val="1"/>
              </a:ext>
            </a:extLst>
          </p:cNvPr>
          <p:cNvSpPr/>
          <p:nvPr userDrawn="1"/>
        </p:nvSpPr>
        <p:spPr>
          <a:xfrm>
            <a:off x="1275689" y="4286687"/>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7302EBE6-0B04-CB66-1896-3630EF8D4D12}"/>
              </a:ext>
              <a:ext uri="{C183D7F6-B498-43B3-948B-1728B52AA6E4}">
                <adec:decorative xmlns:adec="http://schemas.microsoft.com/office/drawing/2017/decorative" val="1"/>
              </a:ext>
            </a:extLst>
          </p:cNvPr>
          <p:cNvSpPr/>
          <p:nvPr userDrawn="1"/>
        </p:nvSpPr>
        <p:spPr>
          <a:xfrm>
            <a:off x="7760044" y="5740518"/>
            <a:ext cx="840963" cy="840963"/>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C60DF9E-71C1-E217-E470-BACAC335E400}"/>
              </a:ext>
              <a:ext uri="{C183D7F6-B498-43B3-948B-1728B52AA6E4}">
                <adec:decorative xmlns:adec="http://schemas.microsoft.com/office/drawing/2017/decorative" val="1"/>
              </a:ext>
            </a:extLst>
          </p:cNvPr>
          <p:cNvSpPr/>
          <p:nvPr userDrawn="1"/>
        </p:nvSpPr>
        <p:spPr>
          <a:xfrm>
            <a:off x="3071764" y="2566758"/>
            <a:ext cx="840963" cy="840963"/>
          </a:xfrm>
          <a:prstGeom prst="ellipse">
            <a:avLst/>
          </a:prstGeom>
          <a:solidFill>
            <a:schemeClr val="accent4">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BF747FB-CC5F-D4CA-81E8-7A61F5358C61}"/>
              </a:ext>
              <a:ext uri="{C183D7F6-B498-43B3-948B-1728B52AA6E4}">
                <adec:decorative xmlns:adec="http://schemas.microsoft.com/office/drawing/2017/decorative" val="1"/>
              </a:ext>
            </a:extLst>
          </p:cNvPr>
          <p:cNvSpPr/>
          <p:nvPr userDrawn="1"/>
        </p:nvSpPr>
        <p:spPr>
          <a:xfrm>
            <a:off x="7760044" y="2566757"/>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A95E84-9374-9712-4B91-31F479E6C74D}"/>
              </a:ext>
              <a:ext uri="{C183D7F6-B498-43B3-948B-1728B52AA6E4}">
                <adec:decorative xmlns:adec="http://schemas.microsoft.com/office/drawing/2017/decorative" val="1"/>
              </a:ext>
            </a:extLst>
          </p:cNvPr>
          <p:cNvSpPr/>
          <p:nvPr userDrawn="1"/>
        </p:nvSpPr>
        <p:spPr>
          <a:xfrm>
            <a:off x="5590723" y="4286688"/>
            <a:ext cx="840963" cy="840963"/>
          </a:xfrm>
          <a:prstGeom prst="ellipse">
            <a:avLst/>
          </a:prstGeom>
          <a:solidFill>
            <a:schemeClr val="accent1">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EBBB4CD-0B4A-786E-963D-6BB36B9E76B5}"/>
              </a:ext>
              <a:ext uri="{C183D7F6-B498-43B3-948B-1728B52AA6E4}">
                <adec:decorative xmlns:adec="http://schemas.microsoft.com/office/drawing/2017/decorative" val="1"/>
              </a:ext>
            </a:extLst>
          </p:cNvPr>
          <p:cNvSpPr/>
          <p:nvPr userDrawn="1"/>
        </p:nvSpPr>
        <p:spPr>
          <a:xfrm>
            <a:off x="1197141" y="547522"/>
            <a:ext cx="840963" cy="84096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1D5DA0-8F16-4F11-8B6E-A593133FA159}"/>
              </a:ext>
            </a:extLst>
          </p:cNvPr>
          <p:cNvSpPr>
            <a:spLocks noGrp="1"/>
          </p:cNvSpPr>
          <p:nvPr>
            <p:ph type="title" hasCustomPrompt="1"/>
          </p:nvPr>
        </p:nvSpPr>
        <p:spPr>
          <a:xfrm>
            <a:off x="4916488" y="457199"/>
            <a:ext cx="6932612" cy="1465723"/>
          </a:xfrm>
        </p:spPr>
        <p:txBody>
          <a:bodyPr/>
          <a:lstStyle>
            <a:lvl1pPr algn="r">
              <a:defRPr/>
            </a:lvl1pPr>
          </a:lstStyle>
          <a:p>
            <a:r>
              <a:rPr lang="en-US" dirty="0"/>
              <a:t>Click to add title</a:t>
            </a:r>
          </a:p>
        </p:txBody>
      </p:sp>
      <p:sp>
        <p:nvSpPr>
          <p:cNvPr id="40" name="Picture Placeholder 34">
            <a:extLst>
              <a:ext uri="{FF2B5EF4-FFF2-40B4-BE49-F238E27FC236}">
                <a16:creationId xmlns:a16="http://schemas.microsoft.com/office/drawing/2014/main" id="{EA10837A-18D5-41DD-A066-A079A09D86A7}"/>
              </a:ext>
            </a:extLst>
          </p:cNvPr>
          <p:cNvSpPr>
            <a:spLocks noGrp="1"/>
          </p:cNvSpPr>
          <p:nvPr>
            <p:ph type="pic" sz="quarter" idx="24"/>
          </p:nvPr>
        </p:nvSpPr>
        <p:spPr>
          <a:xfrm>
            <a:off x="1420935" y="466999"/>
            <a:ext cx="887413" cy="889000"/>
          </a:xfrm>
        </p:spPr>
        <p:txBody>
          <a:bodyPr>
            <a:normAutofit/>
          </a:bodyPr>
          <a:lstStyle>
            <a:lvl1pPr marL="0" indent="0" algn="ctr">
              <a:buNone/>
              <a:defRPr sz="900"/>
            </a:lvl1pPr>
          </a:lstStyle>
          <a:p>
            <a:r>
              <a:rPr lang="en-US"/>
              <a:t>Click icon to add picture</a:t>
            </a:r>
            <a:endParaRPr lang="en-US" dirty="0"/>
          </a:p>
        </p:txBody>
      </p:sp>
      <p:sp>
        <p:nvSpPr>
          <p:cNvPr id="42" name="Text Placeholder 46">
            <a:extLst>
              <a:ext uri="{FF2B5EF4-FFF2-40B4-BE49-F238E27FC236}">
                <a16:creationId xmlns:a16="http://schemas.microsoft.com/office/drawing/2014/main" id="{DF68D5C6-4D23-4113-9FFA-AFAAB5A6DA01}"/>
              </a:ext>
            </a:extLst>
          </p:cNvPr>
          <p:cNvSpPr>
            <a:spLocks noGrp="1"/>
          </p:cNvSpPr>
          <p:nvPr>
            <p:ph type="body" sz="quarter" idx="39" hasCustomPrompt="1"/>
          </p:nvPr>
        </p:nvSpPr>
        <p:spPr>
          <a:xfrm>
            <a:off x="2408126" y="52731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FD8132DE-D62C-4410-983C-9F458DCEF6DE}"/>
              </a:ext>
            </a:extLst>
          </p:cNvPr>
          <p:cNvSpPr>
            <a:spLocks noGrp="1"/>
          </p:cNvSpPr>
          <p:nvPr>
            <p:ph type="body" sz="quarter" idx="38" hasCustomPrompt="1"/>
          </p:nvPr>
        </p:nvSpPr>
        <p:spPr>
          <a:xfrm>
            <a:off x="2408126" y="93025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48" name="Picture Placeholder 34">
            <a:extLst>
              <a:ext uri="{FF2B5EF4-FFF2-40B4-BE49-F238E27FC236}">
                <a16:creationId xmlns:a16="http://schemas.microsoft.com/office/drawing/2014/main" id="{2B75D755-4972-4E8B-ACD5-FAE778A86273}"/>
              </a:ext>
            </a:extLst>
          </p:cNvPr>
          <p:cNvSpPr>
            <a:spLocks noGrp="1"/>
          </p:cNvSpPr>
          <p:nvPr>
            <p:ph type="pic" sz="quarter" idx="40"/>
          </p:nvPr>
        </p:nvSpPr>
        <p:spPr>
          <a:xfrm>
            <a:off x="3458965"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91051322-19B5-41CA-BEAB-A8F1B8CA54ED}"/>
              </a:ext>
            </a:extLst>
          </p:cNvPr>
          <p:cNvSpPr>
            <a:spLocks noGrp="1"/>
          </p:cNvSpPr>
          <p:nvPr>
            <p:ph type="body" sz="quarter" idx="42" hasCustomPrompt="1"/>
          </p:nvPr>
        </p:nvSpPr>
        <p:spPr>
          <a:xfrm>
            <a:off x="4446156"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9" name="Text Placeholder 39">
            <a:extLst>
              <a:ext uri="{FF2B5EF4-FFF2-40B4-BE49-F238E27FC236}">
                <a16:creationId xmlns:a16="http://schemas.microsoft.com/office/drawing/2014/main" id="{0EEE7EDE-175B-450F-B4D2-50D992E53C5E}"/>
              </a:ext>
            </a:extLst>
          </p:cNvPr>
          <p:cNvSpPr>
            <a:spLocks noGrp="1"/>
          </p:cNvSpPr>
          <p:nvPr>
            <p:ph type="body" sz="quarter" idx="41" hasCustomPrompt="1"/>
          </p:nvPr>
        </p:nvSpPr>
        <p:spPr>
          <a:xfrm>
            <a:off x="4446156"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1" name="Picture Placeholder 34">
            <a:extLst>
              <a:ext uri="{FF2B5EF4-FFF2-40B4-BE49-F238E27FC236}">
                <a16:creationId xmlns:a16="http://schemas.microsoft.com/office/drawing/2014/main" id="{966FF594-D5D5-4FD4-A245-AAF0D053095E}"/>
              </a:ext>
            </a:extLst>
          </p:cNvPr>
          <p:cNvSpPr>
            <a:spLocks noGrp="1"/>
          </p:cNvSpPr>
          <p:nvPr>
            <p:ph type="pic" sz="quarter" idx="43"/>
          </p:nvPr>
        </p:nvSpPr>
        <p:spPr>
          <a:xfrm>
            <a:off x="8030968"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6" name="Text Placeholder 46">
            <a:extLst>
              <a:ext uri="{FF2B5EF4-FFF2-40B4-BE49-F238E27FC236}">
                <a16:creationId xmlns:a16="http://schemas.microsoft.com/office/drawing/2014/main" id="{D8A4734F-8867-4923-806F-AE04360B226B}"/>
              </a:ext>
            </a:extLst>
          </p:cNvPr>
          <p:cNvSpPr>
            <a:spLocks noGrp="1"/>
          </p:cNvSpPr>
          <p:nvPr>
            <p:ph type="body" sz="quarter" idx="45" hasCustomPrompt="1"/>
          </p:nvPr>
        </p:nvSpPr>
        <p:spPr>
          <a:xfrm>
            <a:off x="9018159"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5" name="Text Placeholder 39">
            <a:extLst>
              <a:ext uri="{FF2B5EF4-FFF2-40B4-BE49-F238E27FC236}">
                <a16:creationId xmlns:a16="http://schemas.microsoft.com/office/drawing/2014/main" id="{3A5DD9C2-78E8-4416-B2C1-F07A9E25832F}"/>
              </a:ext>
            </a:extLst>
          </p:cNvPr>
          <p:cNvSpPr>
            <a:spLocks noGrp="1"/>
          </p:cNvSpPr>
          <p:nvPr>
            <p:ph type="body" sz="quarter" idx="44" hasCustomPrompt="1"/>
          </p:nvPr>
        </p:nvSpPr>
        <p:spPr>
          <a:xfrm>
            <a:off x="9018159"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7" name="Picture Placeholder 34">
            <a:extLst>
              <a:ext uri="{FF2B5EF4-FFF2-40B4-BE49-F238E27FC236}">
                <a16:creationId xmlns:a16="http://schemas.microsoft.com/office/drawing/2014/main" id="{B03F66BE-0084-45A8-85FC-1448DEA89D7E}"/>
              </a:ext>
            </a:extLst>
          </p:cNvPr>
          <p:cNvSpPr>
            <a:spLocks noGrp="1"/>
          </p:cNvSpPr>
          <p:nvPr>
            <p:ph type="pic" sz="quarter" idx="46"/>
          </p:nvPr>
        </p:nvSpPr>
        <p:spPr>
          <a:xfrm>
            <a:off x="1586860"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1" name="Text Placeholder 46">
            <a:extLst>
              <a:ext uri="{FF2B5EF4-FFF2-40B4-BE49-F238E27FC236}">
                <a16:creationId xmlns:a16="http://schemas.microsoft.com/office/drawing/2014/main" id="{DD5495C5-2CD2-4593-BC1F-CF0E7D3601E3}"/>
              </a:ext>
            </a:extLst>
          </p:cNvPr>
          <p:cNvSpPr>
            <a:spLocks noGrp="1"/>
          </p:cNvSpPr>
          <p:nvPr>
            <p:ph type="body" sz="quarter" idx="48" hasCustomPrompt="1"/>
          </p:nvPr>
        </p:nvSpPr>
        <p:spPr>
          <a:xfrm>
            <a:off x="2574051"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8" name="Text Placeholder 39">
            <a:extLst>
              <a:ext uri="{FF2B5EF4-FFF2-40B4-BE49-F238E27FC236}">
                <a16:creationId xmlns:a16="http://schemas.microsoft.com/office/drawing/2014/main" id="{3F9DA6EE-3DE6-4493-AD6B-BEC7EE858CED}"/>
              </a:ext>
            </a:extLst>
          </p:cNvPr>
          <p:cNvSpPr>
            <a:spLocks noGrp="1"/>
          </p:cNvSpPr>
          <p:nvPr>
            <p:ph type="body" sz="quarter" idx="47" hasCustomPrompt="1"/>
          </p:nvPr>
        </p:nvSpPr>
        <p:spPr>
          <a:xfrm>
            <a:off x="2574051"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2" name="Picture Placeholder 34">
            <a:extLst>
              <a:ext uri="{FF2B5EF4-FFF2-40B4-BE49-F238E27FC236}">
                <a16:creationId xmlns:a16="http://schemas.microsoft.com/office/drawing/2014/main" id="{D2B54852-DC63-410D-BE2A-4D723492843F}"/>
              </a:ext>
            </a:extLst>
          </p:cNvPr>
          <p:cNvSpPr>
            <a:spLocks noGrp="1"/>
          </p:cNvSpPr>
          <p:nvPr>
            <p:ph type="pic" sz="quarter" idx="49"/>
          </p:nvPr>
        </p:nvSpPr>
        <p:spPr>
          <a:xfrm>
            <a:off x="5818607"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4" name="Text Placeholder 46">
            <a:extLst>
              <a:ext uri="{FF2B5EF4-FFF2-40B4-BE49-F238E27FC236}">
                <a16:creationId xmlns:a16="http://schemas.microsoft.com/office/drawing/2014/main" id="{FCE91BB7-DB4C-4F95-ADC1-2757AA689645}"/>
              </a:ext>
            </a:extLst>
          </p:cNvPr>
          <p:cNvSpPr>
            <a:spLocks noGrp="1"/>
          </p:cNvSpPr>
          <p:nvPr>
            <p:ph type="body" sz="quarter" idx="51" hasCustomPrompt="1"/>
          </p:nvPr>
        </p:nvSpPr>
        <p:spPr>
          <a:xfrm>
            <a:off x="6805798"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3" name="Text Placeholder 39">
            <a:extLst>
              <a:ext uri="{FF2B5EF4-FFF2-40B4-BE49-F238E27FC236}">
                <a16:creationId xmlns:a16="http://schemas.microsoft.com/office/drawing/2014/main" id="{13567973-FE07-4747-9500-D565A3EF2869}"/>
              </a:ext>
            </a:extLst>
          </p:cNvPr>
          <p:cNvSpPr>
            <a:spLocks noGrp="1"/>
          </p:cNvSpPr>
          <p:nvPr>
            <p:ph type="body" sz="quarter" idx="50" hasCustomPrompt="1"/>
          </p:nvPr>
        </p:nvSpPr>
        <p:spPr>
          <a:xfrm>
            <a:off x="6805798"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5" name="Picture Placeholder 34">
            <a:extLst>
              <a:ext uri="{FF2B5EF4-FFF2-40B4-BE49-F238E27FC236}">
                <a16:creationId xmlns:a16="http://schemas.microsoft.com/office/drawing/2014/main" id="{7082A562-BADD-429E-BB11-8A40EE253FC4}"/>
              </a:ext>
            </a:extLst>
          </p:cNvPr>
          <p:cNvSpPr>
            <a:spLocks noGrp="1"/>
          </p:cNvSpPr>
          <p:nvPr>
            <p:ph type="pic" sz="quarter" idx="52"/>
          </p:nvPr>
        </p:nvSpPr>
        <p:spPr>
          <a:xfrm>
            <a:off x="8027987" y="5637179"/>
            <a:ext cx="887413" cy="889000"/>
          </a:xfrm>
        </p:spPr>
        <p:txBody>
          <a:bodyPr>
            <a:normAutofit/>
          </a:bodyPr>
          <a:lstStyle>
            <a:lvl1pPr marL="0" indent="0" algn="ctr">
              <a:buNone/>
              <a:defRPr sz="900"/>
            </a:lvl1pPr>
          </a:lstStyle>
          <a:p>
            <a:r>
              <a:rPr lang="en-US"/>
              <a:t>Click icon to add picture</a:t>
            </a:r>
            <a:endParaRPr lang="en-US" dirty="0"/>
          </a:p>
        </p:txBody>
      </p:sp>
      <p:sp>
        <p:nvSpPr>
          <p:cNvPr id="67" name="Text Placeholder 46">
            <a:extLst>
              <a:ext uri="{FF2B5EF4-FFF2-40B4-BE49-F238E27FC236}">
                <a16:creationId xmlns:a16="http://schemas.microsoft.com/office/drawing/2014/main" id="{67C61256-88BA-4ADF-A3CB-77D1B459CAE6}"/>
              </a:ext>
            </a:extLst>
          </p:cNvPr>
          <p:cNvSpPr>
            <a:spLocks noGrp="1"/>
          </p:cNvSpPr>
          <p:nvPr>
            <p:ph type="body" sz="quarter" idx="54" hasCustomPrompt="1"/>
          </p:nvPr>
        </p:nvSpPr>
        <p:spPr>
          <a:xfrm>
            <a:off x="9015178" y="569749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6" name="Text Placeholder 39">
            <a:extLst>
              <a:ext uri="{FF2B5EF4-FFF2-40B4-BE49-F238E27FC236}">
                <a16:creationId xmlns:a16="http://schemas.microsoft.com/office/drawing/2014/main" id="{C8F3380A-C45C-44C2-BE84-98D3DADAEDA3}"/>
              </a:ext>
            </a:extLst>
          </p:cNvPr>
          <p:cNvSpPr>
            <a:spLocks noGrp="1"/>
          </p:cNvSpPr>
          <p:nvPr>
            <p:ph type="body" sz="quarter" idx="53" hasCustomPrompt="1"/>
          </p:nvPr>
        </p:nvSpPr>
        <p:spPr>
          <a:xfrm>
            <a:off x="9015178" y="610043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Tree>
    <p:extLst>
      <p:ext uri="{BB962C8B-B14F-4D97-AF65-F5344CB8AC3E}">
        <p14:creationId xmlns:p14="http://schemas.microsoft.com/office/powerpoint/2010/main" val="328935894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72">
          <p15:clr>
            <a:srgbClr val="5ACBF0"/>
          </p15:clr>
        </p15:guide>
        <p15:guide id="6" pos="2064">
          <p15:clr>
            <a:srgbClr val="5ACBF0"/>
          </p15:clr>
        </p15:guide>
        <p15:guide id="7" pos="1776">
          <p15:clr>
            <a:srgbClr val="5ACBF0"/>
          </p15:clr>
        </p15:guide>
        <p15:guide id="8" pos="5616">
          <p15:clr>
            <a:srgbClr val="5ACBF0"/>
          </p15:clr>
        </p15:guide>
        <p15:guide id="9" pos="5928">
          <p15:clr>
            <a:srgbClr val="5ACBF0"/>
          </p15:clr>
        </p15:guide>
        <p15:guide id="10" pos="144">
          <p15:clr>
            <a:srgbClr val="5ACBF0"/>
          </p15:clr>
        </p15:guide>
        <p15:guide id="11" orient="horz" pos="4200">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 id="2147483670" r:id="rId18"/>
    <p:sldLayoutId id="2147483671" r:id="rId19"/>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9.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svg"/><Relationship Id="rId11" Type="http://schemas.openxmlformats.org/officeDocument/2006/relationships/image" Target="../media/image35.sv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svg"/><Relationship Id="rId9"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417B79-9D86-B65E-24D3-AA09B89B240C}"/>
              </a:ext>
            </a:extLst>
          </p:cNvPr>
          <p:cNvSpPr txBox="1"/>
          <p:nvPr/>
        </p:nvSpPr>
        <p:spPr>
          <a:xfrm>
            <a:off x="2123768" y="5071314"/>
            <a:ext cx="8267700" cy="1366977"/>
          </a:xfrm>
          <a:prstGeom prst="rect">
            <a:avLst/>
          </a:prstGeom>
          <a:noFill/>
        </p:spPr>
        <p:txBody>
          <a:bodyPr wrap="square">
            <a:spAutoFit/>
          </a:bodyPr>
          <a:lstStyle/>
          <a:p>
            <a:pPr algn="ctr">
              <a:lnSpc>
                <a:spcPct val="107000"/>
              </a:lnSpc>
              <a:spcAft>
                <a:spcPts val="800"/>
              </a:spcAft>
            </a:pP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𝕯𝖊𝖕𝖆𝖗𝖙𝖒𝖊𝖓𝖙</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𝖔𝖋</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𝕾𝖙𝖆𝖙𝖎𝖘𝖙𝖎𝖈𝖘</a:t>
            </a:r>
            <a:endParaRPr lang="en-IN" sz="1200" dirty="0">
              <a:effectLst/>
              <a:latin typeface="Trebuchet MS" panose="020B0603020202020204" pitchFamily="34" charset="0"/>
              <a:ea typeface="Trebuchet MS" panose="020B0603020202020204" pitchFamily="34" charset="0"/>
              <a:cs typeface="Times New Roman" panose="02020603050405020304" pitchFamily="18" charset="0"/>
            </a:endParaRPr>
          </a:p>
          <a:p>
            <a:pPr marL="6350" indent="-6350" algn="ct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SCHOOL OF MATHEMATICS, STATISTICS AND COMPUTER SCIENCE</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lnSpc>
                <a:spcPct val="107000"/>
              </a:lnSpc>
              <a:spcAft>
                <a:spcPts val="575"/>
              </a:spcAft>
            </a:pPr>
            <a:r>
              <a:rPr lang="en-GB" sz="1600" dirty="0">
                <a:effectLst/>
                <a:latin typeface="Trebuchet MS" panose="020B0603020202020204" pitchFamily="34" charset="0"/>
                <a:ea typeface="Trebuchet MS" panose="020B0603020202020204" pitchFamily="34" charset="0"/>
                <a:cs typeface="Times New Roman" panose="02020603050405020304" pitchFamily="18" charset="0"/>
              </a:rPr>
              <a:t> </a:t>
            </a:r>
            <a:r>
              <a:rPr lang="en-GB" sz="1600" dirty="0">
                <a:effectLst/>
                <a:latin typeface="Calisto MT" panose="02040603050505030304" pitchFamily="18" charset="0"/>
                <a:ea typeface="Times New Roman" panose="02020603050405020304" pitchFamily="18" charset="0"/>
                <a:cs typeface="Times New Roman" panose="02020603050405020304" pitchFamily="18" charset="0"/>
              </a:rPr>
              <a:t>Central University of South Bihar , Gaya </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B83AC43-E159-3AB2-7669-D570F015B467}"/>
              </a:ext>
            </a:extLst>
          </p:cNvPr>
          <p:cNvPicPr>
            <a:picLocks noChangeAspect="1"/>
          </p:cNvPicPr>
          <p:nvPr/>
        </p:nvPicPr>
        <p:blipFill>
          <a:blip r:embed="rId2"/>
          <a:stretch>
            <a:fillRect/>
          </a:stretch>
        </p:blipFill>
        <p:spPr>
          <a:xfrm>
            <a:off x="4985569" y="49722"/>
            <a:ext cx="2220862" cy="2142996"/>
          </a:xfrm>
          <a:prstGeom prst="rect">
            <a:avLst/>
          </a:prstGeom>
        </p:spPr>
      </p:pic>
      <p:sp>
        <p:nvSpPr>
          <p:cNvPr id="8" name="TextBox 7">
            <a:extLst>
              <a:ext uri="{FF2B5EF4-FFF2-40B4-BE49-F238E27FC236}">
                <a16:creationId xmlns:a16="http://schemas.microsoft.com/office/drawing/2014/main" id="{82CBE339-6EEB-8120-B8F0-17613132526F}"/>
              </a:ext>
            </a:extLst>
          </p:cNvPr>
          <p:cNvSpPr txBox="1"/>
          <p:nvPr/>
        </p:nvSpPr>
        <p:spPr>
          <a:xfrm>
            <a:off x="4751401" y="2369574"/>
            <a:ext cx="2455030" cy="584775"/>
          </a:xfrm>
          <a:prstGeom prst="rect">
            <a:avLst/>
          </a:prstGeom>
          <a:noFill/>
        </p:spPr>
        <p:txBody>
          <a:bodyPr wrap="square" rtlCol="0">
            <a:spAutoFit/>
          </a:bodyPr>
          <a:lstStyle/>
          <a:p>
            <a:r>
              <a:rPr lang="en-US" sz="3200" dirty="0">
                <a:latin typeface="Calisto MT" panose="02040603050505030304" pitchFamily="18" charset="0"/>
              </a:rPr>
              <a:t> Mini project  </a:t>
            </a:r>
            <a:endParaRPr lang="en-IN" sz="3200" dirty="0">
              <a:latin typeface="Calisto MT" panose="02040603050505030304" pitchFamily="18" charset="0"/>
            </a:endParaRPr>
          </a:p>
        </p:txBody>
      </p:sp>
      <p:sp>
        <p:nvSpPr>
          <p:cNvPr id="9" name="TextBox 8">
            <a:extLst>
              <a:ext uri="{FF2B5EF4-FFF2-40B4-BE49-F238E27FC236}">
                <a16:creationId xmlns:a16="http://schemas.microsoft.com/office/drawing/2014/main" id="{330253C8-203E-D7C2-7A5E-B6DE71F01FA7}"/>
              </a:ext>
            </a:extLst>
          </p:cNvPr>
          <p:cNvSpPr txBox="1"/>
          <p:nvPr/>
        </p:nvSpPr>
        <p:spPr>
          <a:xfrm>
            <a:off x="2123768" y="2946539"/>
            <a:ext cx="8701548" cy="369332"/>
          </a:xfrm>
          <a:prstGeom prst="rect">
            <a:avLst/>
          </a:prstGeom>
          <a:noFill/>
        </p:spPr>
        <p:txBody>
          <a:bodyPr wrap="square" rtlCol="0">
            <a:spAutoFit/>
          </a:bodyPr>
          <a:lstStyle/>
          <a:p>
            <a:r>
              <a:rPr lang="en-US" dirty="0">
                <a:latin typeface="Calisto MT" panose="02040603050505030304" pitchFamily="18" charset="0"/>
              </a:rPr>
              <a:t>For the award of the degree of Master in Data Science and Applied Statistics</a:t>
            </a:r>
            <a:endParaRPr lang="en-IN" dirty="0">
              <a:latin typeface="Calisto MT" panose="02040603050505030304" pitchFamily="18" charset="0"/>
            </a:endParaRPr>
          </a:p>
        </p:txBody>
      </p:sp>
      <p:sp>
        <p:nvSpPr>
          <p:cNvPr id="10" name="TextBox 9">
            <a:extLst>
              <a:ext uri="{FF2B5EF4-FFF2-40B4-BE49-F238E27FC236}">
                <a16:creationId xmlns:a16="http://schemas.microsoft.com/office/drawing/2014/main" id="{F8B0E9D0-0CF5-91D3-A89F-C92725D5396F}"/>
              </a:ext>
            </a:extLst>
          </p:cNvPr>
          <p:cNvSpPr txBox="1"/>
          <p:nvPr/>
        </p:nvSpPr>
        <p:spPr>
          <a:xfrm>
            <a:off x="1021345" y="3711525"/>
            <a:ext cx="2360953" cy="92333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SUPERVISED BY</a:t>
            </a:r>
            <a:r>
              <a:rPr lang="en-IN" dirty="0">
                <a:latin typeface="Times New Roman" panose="02020603050405020304" pitchFamily="18" charset="0"/>
                <a:cs typeface="Times New Roman" panose="02020603050405020304" pitchFamily="18" charset="0"/>
              </a:rPr>
              <a:t>: </a:t>
            </a:r>
          </a:p>
          <a:p>
            <a:r>
              <a:rPr lang="en-IN" b="1" dirty="0" err="1">
                <a:latin typeface="Times New Roman" panose="02020603050405020304" pitchFamily="18" charset="0"/>
                <a:cs typeface="Times New Roman" panose="02020603050405020304" pitchFamily="18" charset="0"/>
              </a:rPr>
              <a:t>Dr.</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Indrajeet</a:t>
            </a:r>
            <a:r>
              <a:rPr lang="en-IN" b="1" dirty="0">
                <a:latin typeface="Times New Roman" panose="02020603050405020304" pitchFamily="18" charset="0"/>
                <a:cs typeface="Times New Roman" panose="02020603050405020304" pitchFamily="18" charset="0"/>
              </a:rPr>
              <a:t> Kumar </a:t>
            </a:r>
            <a:r>
              <a:rPr lang="en-IN" dirty="0">
                <a:latin typeface="Calisto MT" panose="02040603050505030304" pitchFamily="18" charset="0"/>
                <a:cs typeface="Times New Roman" panose="02020603050405020304" pitchFamily="18" charset="0"/>
              </a:rPr>
              <a:t>Assistant Professor</a:t>
            </a:r>
          </a:p>
        </p:txBody>
      </p:sp>
      <p:sp>
        <p:nvSpPr>
          <p:cNvPr id="11" name="TextBox 10">
            <a:extLst>
              <a:ext uri="{FF2B5EF4-FFF2-40B4-BE49-F238E27FC236}">
                <a16:creationId xmlns:a16="http://schemas.microsoft.com/office/drawing/2014/main" id="{01EFA465-5AEB-99C7-3375-BA13BA61DDB2}"/>
              </a:ext>
            </a:extLst>
          </p:cNvPr>
          <p:cNvSpPr txBox="1"/>
          <p:nvPr/>
        </p:nvSpPr>
        <p:spPr>
          <a:xfrm>
            <a:off x="8809703" y="3711525"/>
            <a:ext cx="3283973" cy="1754326"/>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SUBMITTED BY: </a:t>
            </a:r>
          </a:p>
          <a:p>
            <a:r>
              <a:rPr lang="en-US" b="1" dirty="0">
                <a:latin typeface="Times New Roman" panose="02020603050405020304" pitchFamily="18" charset="0"/>
                <a:cs typeface="Times New Roman" panose="02020603050405020304" pitchFamily="18" charset="0"/>
              </a:rPr>
              <a:t>     Rahul </a:t>
            </a:r>
            <a:r>
              <a:rPr lang="en-US" b="1" dirty="0" err="1">
                <a:latin typeface="Times New Roman" panose="02020603050405020304" pitchFamily="18" charset="0"/>
                <a:cs typeface="Times New Roman" panose="02020603050405020304" pitchFamily="18" charset="0"/>
              </a:rPr>
              <a:t>kumar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Mahato</a:t>
            </a:r>
            <a:r>
              <a:rPr lang="en-US" b="1"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EnRoll</a:t>
            </a:r>
            <a:r>
              <a:rPr lang="en-US" sz="1600" dirty="0">
                <a:latin typeface="Times New Roman" panose="02020603050405020304" pitchFamily="18" charset="0"/>
                <a:cs typeface="Times New Roman" panose="02020603050405020304" pitchFamily="18" charset="0"/>
              </a:rPr>
              <a:t> No. CUSB2302222005</a:t>
            </a:r>
          </a:p>
          <a:p>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dirty="0">
                <a:effectLst/>
                <a:latin typeface="Times New Roman" panose="02020603050405020304" pitchFamily="18" charset="0"/>
                <a:ea typeface="Times New Roman" panose="02020603050405020304" pitchFamily="18" charset="0"/>
                <a:cs typeface="Times New Roman" panose="02020603050405020304" pitchFamily="18" charset="0"/>
              </a:rPr>
              <a:t>SEMESTER - III</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r>
              <a:rPr lang="en-GB" sz="1600" dirty="0">
                <a:effectLst/>
                <a:latin typeface="Times New Roman" panose="02020603050405020304" pitchFamily="18" charset="0"/>
                <a:ea typeface="Times New Roman" panose="02020603050405020304" pitchFamily="18" charset="0"/>
                <a:cs typeface="Times New Roman" panose="02020603050405020304" pitchFamily="18" charset="0"/>
              </a:rPr>
              <a:t>     [SESSION: 2023-2025]</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38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463039" y="2104102"/>
            <a:ext cx="5134405" cy="3065305"/>
          </a:xfrm>
        </p:spPr>
        <p:txBody>
          <a:bodyPr/>
          <a:lstStyle/>
          <a:p>
            <a:r>
              <a:rPr lang="en-US" sz="3600" b="1" dirty="0"/>
              <a:t>"Predicting Mumbai’s Air Quality Index : Leveraging Machine Learning for AQI Forecasting"</a:t>
            </a:r>
            <a:br>
              <a:rPr lang="en-US" sz="3600" dirty="0"/>
            </a:br>
            <a:endParaRPr lang="en-IN" sz="3600" dirty="0"/>
          </a:p>
        </p:txBody>
      </p:sp>
      <p:pic>
        <p:nvPicPr>
          <p:cNvPr id="7" name="Picture Placeholder 6">
            <a:extLst>
              <a:ext uri="{FF2B5EF4-FFF2-40B4-BE49-F238E27FC236}">
                <a16:creationId xmlns:a16="http://schemas.microsoft.com/office/drawing/2014/main" id="{E810CF04-0086-BBF3-75B3-2347AEF372C2}"/>
              </a:ext>
            </a:extLst>
          </p:cNvPr>
          <p:cNvPicPr>
            <a:picLocks noGrp="1" noChangeAspect="1"/>
          </p:cNvPicPr>
          <p:nvPr>
            <p:ph type="pic" sz="quarter" idx="10"/>
          </p:nvPr>
        </p:nvPicPr>
        <p:blipFill>
          <a:blip r:embed="rId2"/>
          <a:srcRect t="4096" b="4096"/>
          <a:stretch>
            <a:fillRect/>
          </a:stretch>
        </p:blipFill>
        <p:spPr/>
      </p:pic>
      <p:sp>
        <p:nvSpPr>
          <p:cNvPr id="5" name="TextBox 4">
            <a:extLst>
              <a:ext uri="{FF2B5EF4-FFF2-40B4-BE49-F238E27FC236}">
                <a16:creationId xmlns:a16="http://schemas.microsoft.com/office/drawing/2014/main" id="{3A758736-56D9-CB6E-006A-FBF3F33D7462}"/>
              </a:ext>
            </a:extLst>
          </p:cNvPr>
          <p:cNvSpPr txBox="1"/>
          <p:nvPr/>
        </p:nvSpPr>
        <p:spPr>
          <a:xfrm>
            <a:off x="1179870" y="1250256"/>
            <a:ext cx="2015614" cy="461665"/>
          </a:xfrm>
          <a:prstGeom prst="rect">
            <a:avLst/>
          </a:prstGeom>
          <a:noFill/>
        </p:spPr>
        <p:txBody>
          <a:bodyPr wrap="square" rtlCol="0">
            <a:spAutoFit/>
          </a:bodyPr>
          <a:lstStyle/>
          <a:p>
            <a:r>
              <a:rPr lang="en-US" sz="2400" b="1" dirty="0">
                <a:latin typeface="+mj-lt"/>
              </a:rPr>
              <a:t>Project Title:</a:t>
            </a:r>
            <a:endParaRPr lang="en-IN" sz="2400" dirty="0">
              <a:latin typeface="+mj-lt"/>
            </a:endParaRPr>
          </a:p>
        </p:txBody>
      </p:sp>
    </p:spTree>
    <p:extLst>
      <p:ext uri="{BB962C8B-B14F-4D97-AF65-F5344CB8AC3E}">
        <p14:creationId xmlns:p14="http://schemas.microsoft.com/office/powerpoint/2010/main" val="40970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Objective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a:xfrm>
            <a:off x="838200" y="1923685"/>
            <a:ext cx="10268712" cy="1505315"/>
          </a:xfrm>
        </p:spPr>
        <p:txBody>
          <a:bodyPr>
            <a:normAutofit/>
          </a:bodyPr>
          <a:lstStyle/>
          <a:p>
            <a:pPr algn="just"/>
            <a:r>
              <a:rPr lang="en-US" sz="1600" dirty="0">
                <a:latin typeface="+mj-lt"/>
              </a:rPr>
              <a:t>. </a:t>
            </a:r>
          </a:p>
          <a:p>
            <a:pPr algn="just"/>
            <a:endParaRPr lang="en-US" sz="1600" dirty="0">
              <a:latin typeface="+mj-lt"/>
            </a:endParaRP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US" dirty="0"/>
              <a:t>Iterative approaches to corporate strategy</a:t>
            </a:r>
          </a:p>
          <a:p>
            <a:r>
              <a:rPr lang="en-US" dirty="0"/>
              <a:t>Establish a management framework from the inside</a:t>
            </a:r>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idx="3"/>
          </p:nvPr>
        </p:nvSpPr>
        <p:spPr/>
        <p:txBody>
          <a:bodyPr/>
          <a:lstStyle/>
          <a:p>
            <a:r>
              <a:rPr lang="en-US" dirty="0"/>
              <a:t>.</a:t>
            </a:r>
          </a:p>
          <a:p>
            <a:endParaRPr lang="en-US"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3</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Project proposal </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2024</a:t>
            </a:r>
          </a:p>
        </p:txBody>
      </p:sp>
      <p:sp>
        <p:nvSpPr>
          <p:cNvPr id="8" name="TextBox 7">
            <a:extLst>
              <a:ext uri="{FF2B5EF4-FFF2-40B4-BE49-F238E27FC236}">
                <a16:creationId xmlns:a16="http://schemas.microsoft.com/office/drawing/2014/main" id="{9F0631F7-FB5E-06F6-336F-0ABC6189544E}"/>
              </a:ext>
            </a:extLst>
          </p:cNvPr>
          <p:cNvSpPr txBox="1"/>
          <p:nvPr/>
        </p:nvSpPr>
        <p:spPr>
          <a:xfrm>
            <a:off x="5771535" y="2900516"/>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F28A2CB1-C2F6-AFFA-2C89-3B0FF40F13F8}"/>
              </a:ext>
            </a:extLst>
          </p:cNvPr>
          <p:cNvSpPr txBox="1"/>
          <p:nvPr/>
        </p:nvSpPr>
        <p:spPr>
          <a:xfrm>
            <a:off x="1455175" y="2049779"/>
            <a:ext cx="9517626" cy="1477328"/>
          </a:xfrm>
          <a:prstGeom prst="rect">
            <a:avLst/>
          </a:prstGeom>
          <a:noFill/>
        </p:spPr>
        <p:txBody>
          <a:bodyPr wrap="square" rtlCol="0">
            <a:spAutoFit/>
          </a:bodyPr>
          <a:lstStyle/>
          <a:p>
            <a:r>
              <a:rPr lang="en-US" sz="1800" dirty="0">
                <a:latin typeface="Calisto MT" panose="02040603050505030304" pitchFamily="18" charset="0"/>
              </a:rPr>
              <a:t>Mumbai faces </a:t>
            </a:r>
            <a:r>
              <a:rPr lang="en-US" sz="1800" b="1" dirty="0">
                <a:latin typeface="Calisto MT" panose="02040603050505030304" pitchFamily="18" charset="0"/>
              </a:rPr>
              <a:t>ongoing</a:t>
            </a:r>
            <a:r>
              <a:rPr lang="en-US" sz="1800" dirty="0">
                <a:latin typeface="Calisto MT" panose="02040603050505030304" pitchFamily="18" charset="0"/>
              </a:rPr>
              <a:t> air pollution challenges due to rapid urbanization, dense population, and industrial activity. The primary objective of this project is to analyze and predict the Air Quality Index (AQI) in Mumbai using machine learning algorithms and artificial neural networks (ANN).</a:t>
            </a:r>
            <a:endParaRPr lang="en-US" sz="2000" dirty="0">
              <a:latin typeface="Calisto MT" panose="02040603050505030304" pitchFamily="18" charset="0"/>
            </a:endParaRPr>
          </a:p>
          <a:p>
            <a:endParaRPr lang="en-IN" dirty="0"/>
          </a:p>
        </p:txBody>
      </p:sp>
      <p:sp>
        <p:nvSpPr>
          <p:cNvPr id="10" name="TextBox 9">
            <a:extLst>
              <a:ext uri="{FF2B5EF4-FFF2-40B4-BE49-F238E27FC236}">
                <a16:creationId xmlns:a16="http://schemas.microsoft.com/office/drawing/2014/main" id="{A575BD9A-15FF-F92D-46BB-C80D868E22AE}"/>
              </a:ext>
            </a:extLst>
          </p:cNvPr>
          <p:cNvSpPr txBox="1"/>
          <p:nvPr/>
        </p:nvSpPr>
        <p:spPr>
          <a:xfrm>
            <a:off x="1337187" y="4176288"/>
            <a:ext cx="9517626" cy="1200329"/>
          </a:xfrm>
          <a:prstGeom prst="rect">
            <a:avLst/>
          </a:prstGeom>
          <a:noFill/>
        </p:spPr>
        <p:txBody>
          <a:bodyPr wrap="square" rtlCol="0">
            <a:spAutoFit/>
          </a:bodyPr>
          <a:lstStyle/>
          <a:p>
            <a:r>
              <a:rPr lang="en-US" dirty="0">
                <a:latin typeface="Calisto MT" panose="02040603050505030304" pitchFamily="18" charset="0"/>
              </a:rPr>
              <a:t>By identifying patterns in pollutant concentrations and weather data, this project aims to forecast Air Quality Index levels accurately and provide insights into reducing pollution in the city. This model will serve as a tool to inform policy decisions, enhance pollution control measures, and improve public health in Mumbai.</a:t>
            </a:r>
            <a:endParaRPr lang="en-IN" dirty="0">
              <a:latin typeface="Calisto MT" panose="02040603050505030304" pitchFamily="18" charset="0"/>
            </a:endParaRPr>
          </a:p>
        </p:txBody>
      </p:sp>
    </p:spTree>
    <p:extLst>
      <p:ext uri="{BB962C8B-B14F-4D97-AF65-F5344CB8AC3E}">
        <p14:creationId xmlns:p14="http://schemas.microsoft.com/office/powerpoint/2010/main" val="164672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365700" y="1799303"/>
            <a:ext cx="9460600" cy="4159046"/>
          </a:xfrm>
        </p:spPr>
        <p:txBody>
          <a:bodyPr/>
          <a:lstStyle/>
          <a:p>
            <a:r>
              <a:rPr lang="en-US" sz="1600" b="1" dirty="0">
                <a:latin typeface="Calisto MT" panose="02040603050505030304" pitchFamily="18" charset="0"/>
              </a:rPr>
              <a:t>Mumbai,</a:t>
            </a:r>
            <a:r>
              <a:rPr lang="en-US" sz="1600" dirty="0">
                <a:latin typeface="Calisto MT" panose="02040603050505030304" pitchFamily="18" charset="0"/>
              </a:rPr>
              <a:t> the financial capital of India, is not only a hub for commerce but also one of the most densely populated cities in the world. With an estimated population of 12.5 million and a rapidly expanding urban footprint, the city faces significant environmental challenges, particularly in managing air quality. Air pollution from vehicular emissions, industrial activities, and construction has continued to </a:t>
            </a:r>
            <a:r>
              <a:rPr lang="en-US" sz="1600" b="1" dirty="0">
                <a:latin typeface="Calisto MT" panose="02040603050505030304" pitchFamily="18" charset="0"/>
              </a:rPr>
              <a:t>get worse</a:t>
            </a:r>
            <a:r>
              <a:rPr lang="en-US" sz="1600" dirty="0">
                <a:latin typeface="Calisto MT" panose="02040603050505030304" pitchFamily="18" charset="0"/>
              </a:rPr>
              <a:t> despite several efforts to control it.</a:t>
            </a:r>
            <a:br>
              <a:rPr lang="en-US" sz="1600" dirty="0">
                <a:latin typeface="Calisto MT" panose="02040603050505030304" pitchFamily="18" charset="0"/>
              </a:rPr>
            </a:br>
            <a:br>
              <a:rPr lang="en-US" sz="1600" dirty="0">
                <a:latin typeface="Calisto MT" panose="02040603050505030304" pitchFamily="18" charset="0"/>
              </a:rPr>
            </a:br>
            <a:br>
              <a:rPr lang="en-US" sz="1600" dirty="0">
                <a:latin typeface="Calisto MT" panose="02040603050505030304" pitchFamily="18" charset="0"/>
              </a:rPr>
            </a:br>
            <a:r>
              <a:rPr lang="en-US" sz="1600" b="1" dirty="0">
                <a:latin typeface="Calisto MT" panose="02040603050505030304" pitchFamily="18" charset="0"/>
              </a:rPr>
              <a:t>Moreover, Mumbai </a:t>
            </a:r>
            <a:r>
              <a:rPr lang="en-US" sz="1600" dirty="0">
                <a:latin typeface="Calisto MT" panose="02040603050505030304" pitchFamily="18" charset="0"/>
              </a:rPr>
              <a:t>has one of the busiest airports in India, attracting millions of tourists from both within the country and across the globe. Poor air quality can create a negative impression on visitors and impact the quality of life for residents. With the advent of advanced data science, this project proposes to utilize machine learning techniques to predict AQI in Mumbai. By leveraging data science, we can harness the power of predictive analytics to make the world a better place—starting with improving Mumbai's air quality. Predicting future AQI will help in early intervention, more effective pollution control, and better public health measures</a:t>
            </a:r>
            <a:r>
              <a:rPr lang="en-US" sz="1050" dirty="0">
                <a:latin typeface="Calisto MT" panose="02040603050505030304" pitchFamily="18" charset="0"/>
              </a:rPr>
              <a:t>.</a:t>
            </a:r>
            <a:br>
              <a:rPr lang="en-US" sz="1050" dirty="0">
                <a:latin typeface="Calisto MT" panose="02040603050505030304" pitchFamily="18" charset="0"/>
              </a:rPr>
            </a:br>
            <a:br>
              <a:rPr lang="en-US" sz="3600" dirty="0">
                <a:latin typeface="Calisto MT" panose="02040603050505030304" pitchFamily="18" charset="0"/>
              </a:rPr>
            </a:br>
            <a:endParaRPr lang="en-IN" sz="3600" dirty="0">
              <a:latin typeface="Calisto MT" panose="02040603050505030304" pitchFamily="18" charset="0"/>
            </a:endParaRPr>
          </a:p>
        </p:txBody>
      </p:sp>
      <p:sp>
        <p:nvSpPr>
          <p:cNvPr id="5" name="TextBox 4">
            <a:extLst>
              <a:ext uri="{FF2B5EF4-FFF2-40B4-BE49-F238E27FC236}">
                <a16:creationId xmlns:a16="http://schemas.microsoft.com/office/drawing/2014/main" id="{3A758736-56D9-CB6E-006A-FBF3F33D7462}"/>
              </a:ext>
            </a:extLst>
          </p:cNvPr>
          <p:cNvSpPr txBox="1"/>
          <p:nvPr/>
        </p:nvSpPr>
        <p:spPr>
          <a:xfrm>
            <a:off x="1179869" y="1250256"/>
            <a:ext cx="2458065" cy="461665"/>
          </a:xfrm>
          <a:prstGeom prst="rect">
            <a:avLst/>
          </a:prstGeom>
          <a:noFill/>
        </p:spPr>
        <p:txBody>
          <a:bodyPr wrap="square" rtlCol="0">
            <a:spAutoFit/>
          </a:bodyPr>
          <a:lstStyle/>
          <a:p>
            <a:r>
              <a:rPr lang="en-US" sz="2400" b="1" dirty="0">
                <a:latin typeface="+mj-lt"/>
              </a:rPr>
              <a:t>MOTIVATION:</a:t>
            </a:r>
            <a:endParaRPr lang="en-IN" sz="2400" dirty="0">
              <a:latin typeface="+mj-lt"/>
            </a:endParaRPr>
          </a:p>
        </p:txBody>
      </p:sp>
    </p:spTree>
    <p:extLst>
      <p:ext uri="{BB962C8B-B14F-4D97-AF65-F5344CB8AC3E}">
        <p14:creationId xmlns:p14="http://schemas.microsoft.com/office/powerpoint/2010/main" val="143045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100229" y="1015180"/>
            <a:ext cx="9460600" cy="4827639"/>
          </a:xfrm>
        </p:spPr>
        <p:txBody>
          <a:bodyPr/>
          <a:lstStyle/>
          <a:p>
            <a:r>
              <a:rPr lang="en-US" sz="1800" dirty="0">
                <a:latin typeface="Calisto MT" panose="02040603050505030304" pitchFamily="18" charset="0"/>
              </a:rPr>
              <a:t>The Dataset is sourced from the </a:t>
            </a:r>
            <a:r>
              <a:rPr lang="en-US" sz="1800" b="1" dirty="0">
                <a:latin typeface="Calisto MT" panose="02040603050505030304" pitchFamily="18" charset="0"/>
              </a:rPr>
              <a:t>Central Pollution Control Board (CPCB)</a:t>
            </a:r>
            <a:r>
              <a:rPr lang="en-US" sz="1800" dirty="0">
                <a:latin typeface="Calisto MT" panose="02040603050505030304" pitchFamily="18" charset="0"/>
              </a:rPr>
              <a:t>,</a:t>
            </a:r>
            <a:br>
              <a:rPr lang="en-US" sz="1800" dirty="0">
                <a:latin typeface="Calisto MT" panose="02040603050505030304" pitchFamily="18" charset="0"/>
              </a:rPr>
            </a:br>
            <a:r>
              <a:rPr lang="en-US" sz="1800" dirty="0">
                <a:latin typeface="Calisto MT" panose="02040603050505030304" pitchFamily="18" charset="0"/>
              </a:rPr>
              <a:t> a government-managed institution that provides reliable and consistent data on air quality across India. The dataset includes various air pollutant and meteorological variables. Key variables include:</a:t>
            </a:r>
            <a:br>
              <a:rPr lang="en-US" sz="1800" dirty="0">
                <a:latin typeface="Calisto MT" panose="02040603050505030304" pitchFamily="18" charset="0"/>
              </a:rPr>
            </a:br>
            <a:br>
              <a:rPr lang="en-US" sz="1800" dirty="0">
                <a:latin typeface="Calisto MT" panose="02040603050505030304" pitchFamily="18" charset="0"/>
              </a:rPr>
            </a:br>
            <a:r>
              <a:rPr lang="en-US" sz="1800" b="1" dirty="0">
                <a:latin typeface="Calisto MT" panose="02040603050505030304" pitchFamily="18" charset="0"/>
              </a:rPr>
              <a:t>PM2.5 &amp; PM10 (µg/m³)</a:t>
            </a:r>
            <a:r>
              <a:rPr lang="en-US" sz="1800" dirty="0">
                <a:latin typeface="Calisto MT" panose="02040603050505030304" pitchFamily="18" charset="0"/>
              </a:rPr>
              <a:t>: Fine and coarse particulate matter, the primary pollutants in urban areas.</a:t>
            </a:r>
            <a:br>
              <a:rPr lang="en-US" sz="1800" dirty="0">
                <a:latin typeface="Calisto MT" panose="02040603050505030304" pitchFamily="18" charset="0"/>
              </a:rPr>
            </a:br>
            <a:r>
              <a:rPr lang="en-US" sz="1800" b="1" dirty="0">
                <a:latin typeface="Calisto MT" panose="02040603050505030304" pitchFamily="18" charset="0"/>
              </a:rPr>
              <a:t>NO2 (µg/m³)</a:t>
            </a:r>
            <a:r>
              <a:rPr lang="en-US" sz="1800" dirty="0">
                <a:latin typeface="Calisto MT" panose="02040603050505030304" pitchFamily="18" charset="0"/>
              </a:rPr>
              <a:t>: Nitrogen dioxide, linked to vehicular emissions.</a:t>
            </a:r>
            <a:br>
              <a:rPr lang="en-US" sz="1800" dirty="0">
                <a:latin typeface="Calisto MT" panose="02040603050505030304" pitchFamily="18" charset="0"/>
              </a:rPr>
            </a:br>
            <a:r>
              <a:rPr lang="en-US" sz="1800" b="1" dirty="0">
                <a:latin typeface="Calisto MT" panose="02040603050505030304" pitchFamily="18" charset="0"/>
              </a:rPr>
              <a:t>SO2 (µg/m³)</a:t>
            </a:r>
            <a:r>
              <a:rPr lang="en-US" sz="1800" dirty="0">
                <a:latin typeface="Calisto MT" panose="02040603050505030304" pitchFamily="18" charset="0"/>
              </a:rPr>
              <a:t>: Sulfur dioxide, an indicator of industrial emissions.</a:t>
            </a:r>
            <a:br>
              <a:rPr lang="en-US" sz="1800" dirty="0">
                <a:latin typeface="Calisto MT" panose="02040603050505030304" pitchFamily="18" charset="0"/>
              </a:rPr>
            </a:br>
            <a:r>
              <a:rPr lang="en-US" sz="1800" b="1" dirty="0">
                <a:latin typeface="Calisto MT" panose="02040603050505030304" pitchFamily="18" charset="0"/>
              </a:rPr>
              <a:t>CO (mg/m³)</a:t>
            </a:r>
            <a:r>
              <a:rPr lang="en-US" sz="1800" dirty="0">
                <a:latin typeface="Calisto MT" panose="02040603050505030304" pitchFamily="18" charset="0"/>
              </a:rPr>
              <a:t>: Carbon monoxide, produced from incomplete combustion of fuel.</a:t>
            </a:r>
            <a:br>
              <a:rPr lang="en-US" sz="1800" dirty="0">
                <a:latin typeface="Calisto MT" panose="02040603050505030304" pitchFamily="18" charset="0"/>
              </a:rPr>
            </a:br>
            <a:r>
              <a:rPr lang="en-US" sz="1800" b="1" dirty="0">
                <a:latin typeface="Calisto MT" panose="02040603050505030304" pitchFamily="18" charset="0"/>
              </a:rPr>
              <a:t>Ozone (µg/m³)</a:t>
            </a:r>
            <a:r>
              <a:rPr lang="en-US" sz="1800" dirty="0">
                <a:latin typeface="Calisto MT" panose="02040603050505030304" pitchFamily="18" charset="0"/>
              </a:rPr>
              <a:t>: Ground-level ozone, harmful to respiratory health.</a:t>
            </a:r>
            <a:br>
              <a:rPr lang="en-US" sz="1800" dirty="0">
                <a:latin typeface="Calisto MT" panose="02040603050505030304" pitchFamily="18" charset="0"/>
              </a:rPr>
            </a:br>
            <a:r>
              <a:rPr lang="en-US" sz="1800" b="1" dirty="0">
                <a:latin typeface="Calisto MT" panose="02040603050505030304" pitchFamily="18" charset="0"/>
              </a:rPr>
              <a:t>AT (°C), RH (%), WS (m/s), WD (deg)</a:t>
            </a:r>
            <a:r>
              <a:rPr lang="en-US" sz="1800" dirty="0">
                <a:latin typeface="Calisto MT" panose="02040603050505030304" pitchFamily="18" charset="0"/>
              </a:rPr>
              <a:t>: Meteorological features like air temperature, relative humidity, wind speed, and wind direction that affect pollutant dispersion.</a:t>
            </a:r>
            <a:br>
              <a:rPr lang="en-US" sz="1800" dirty="0">
                <a:latin typeface="Calisto MT" panose="02040603050505030304" pitchFamily="18" charset="0"/>
              </a:rPr>
            </a:br>
            <a:br>
              <a:rPr lang="en-US" sz="1800" dirty="0">
                <a:latin typeface="Calisto MT" panose="02040603050505030304" pitchFamily="18" charset="0"/>
              </a:rPr>
            </a:br>
            <a:br>
              <a:rPr lang="en-US" sz="1800" dirty="0">
                <a:latin typeface="Calisto MT" panose="02040603050505030304" pitchFamily="18" charset="0"/>
              </a:rPr>
            </a:br>
            <a:r>
              <a:rPr lang="en-US" sz="1800" dirty="0">
                <a:latin typeface="Calisto MT" panose="02040603050505030304" pitchFamily="18" charset="0"/>
              </a:rPr>
              <a:t>These variables provide a comprehensive overview of air quality in Mumbai, helping the model to forecast AQI effectively.</a:t>
            </a:r>
            <a:br>
              <a:rPr lang="en-US" sz="1800" dirty="0">
                <a:latin typeface="Calisto MT" panose="02040603050505030304" pitchFamily="18" charset="0"/>
              </a:rPr>
            </a:br>
            <a:br>
              <a:rPr lang="en-US" sz="1800" dirty="0">
                <a:latin typeface="Calisto MT" panose="02040603050505030304" pitchFamily="18" charset="0"/>
              </a:rPr>
            </a:br>
            <a:endParaRPr lang="en-IN" sz="1800" dirty="0">
              <a:latin typeface="Calisto MT" panose="02040603050505030304" pitchFamily="18" charset="0"/>
            </a:endParaRPr>
          </a:p>
        </p:txBody>
      </p:sp>
      <p:sp>
        <p:nvSpPr>
          <p:cNvPr id="4" name="TextBox 3">
            <a:extLst>
              <a:ext uri="{FF2B5EF4-FFF2-40B4-BE49-F238E27FC236}">
                <a16:creationId xmlns:a16="http://schemas.microsoft.com/office/drawing/2014/main" id="{6B0B4045-E0D3-EF0F-854A-11325831E3C1}"/>
              </a:ext>
            </a:extLst>
          </p:cNvPr>
          <p:cNvSpPr txBox="1"/>
          <p:nvPr/>
        </p:nvSpPr>
        <p:spPr>
          <a:xfrm>
            <a:off x="1651819" y="139798"/>
            <a:ext cx="6096000" cy="584775"/>
          </a:xfrm>
          <a:prstGeom prst="rect">
            <a:avLst/>
          </a:prstGeom>
          <a:noFill/>
        </p:spPr>
        <p:txBody>
          <a:bodyPr wrap="square">
            <a:spAutoFit/>
          </a:bodyPr>
          <a:lstStyle/>
          <a:p>
            <a:r>
              <a:rPr lang="en-IN" sz="3200" dirty="0">
                <a:latin typeface="+mj-lt"/>
              </a:rPr>
              <a:t>Data Description:</a:t>
            </a:r>
          </a:p>
        </p:txBody>
      </p:sp>
    </p:spTree>
    <p:extLst>
      <p:ext uri="{BB962C8B-B14F-4D97-AF65-F5344CB8AC3E}">
        <p14:creationId xmlns:p14="http://schemas.microsoft.com/office/powerpoint/2010/main" val="36686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200"/>
            <a:ext cx="11731752" cy="1184788"/>
          </a:xfrm>
        </p:spPr>
        <p:txBody>
          <a:bodyPr/>
          <a:lstStyle/>
          <a:p>
            <a:r>
              <a:rPr lang="en-IN" dirty="0"/>
              <a:t>Methodology </a:t>
            </a:r>
            <a:r>
              <a:rPr lang="en-US" sz="2000" dirty="0">
                <a:latin typeface="Calibri Light" panose="020F0302020204030204" pitchFamily="34" charset="0"/>
                <a:ea typeface="Calibri Light" panose="020F0302020204030204" pitchFamily="34" charset="0"/>
                <a:cs typeface="Calibri Light" panose="020F0302020204030204" pitchFamily="34" charset="0"/>
              </a:rPr>
              <a:t>The project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233457" y="4019516"/>
            <a:ext cx="2585943" cy="369311"/>
          </a:xfrm>
        </p:spPr>
        <p:txBody>
          <a:bodyPr/>
          <a:lstStyle/>
          <a:p>
            <a:r>
              <a:rPr lang="en-IN" dirty="0"/>
              <a:t>Data Preprocessing</a:t>
            </a:r>
            <a:endParaRPr lang="en-US" dirty="0"/>
          </a:p>
        </p:txBody>
      </p:sp>
      <p:sp>
        <p:nvSpPr>
          <p:cNvPr id="10" name="Text Placeholder 9">
            <a:extLst>
              <a:ext uri="{FF2B5EF4-FFF2-40B4-BE49-F238E27FC236}">
                <a16:creationId xmlns:a16="http://schemas.microsoft.com/office/drawing/2014/main" id="{83413A59-8009-405C-B473-F659F4B46E4A}"/>
              </a:ext>
            </a:extLst>
          </p:cNvPr>
          <p:cNvSpPr>
            <a:spLocks noGrp="1"/>
          </p:cNvSpPr>
          <p:nvPr>
            <p:ph type="body" sz="quarter" idx="14"/>
          </p:nvPr>
        </p:nvSpPr>
        <p:spPr>
          <a:xfrm>
            <a:off x="439643" y="4491306"/>
            <a:ext cx="2158999" cy="601662"/>
          </a:xfrm>
        </p:spPr>
        <p:txBody>
          <a:bodyPr vert="horz" lIns="91440" tIns="45720" rIns="91440" bIns="45720" rtlCol="0" anchor="t">
            <a:noAutofit/>
          </a:bodyPr>
          <a:lstStyle/>
          <a:p>
            <a:r>
              <a:rPr lang="en-US" dirty="0"/>
              <a:t>0 - 14 days</a:t>
            </a:r>
          </a:p>
          <a:p>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369311"/>
          </a:xfrm>
        </p:spPr>
        <p:txBody>
          <a:bodyPr/>
          <a:lstStyle/>
          <a:p>
            <a:r>
              <a:rPr lang="en-IN" dirty="0"/>
              <a:t>Model Development</a:t>
            </a:r>
            <a:endParaRPr lang="en-US" dirty="0"/>
          </a:p>
        </p:txBody>
      </p:sp>
      <p:sp>
        <p:nvSpPr>
          <p:cNvPr id="11" name="Text Placeholder 10">
            <a:extLst>
              <a:ext uri="{FF2B5EF4-FFF2-40B4-BE49-F238E27FC236}">
                <a16:creationId xmlns:a16="http://schemas.microsoft.com/office/drawing/2014/main" id="{793FFC51-169D-49BB-A779-7EFB4D82AD28}"/>
              </a:ext>
            </a:extLst>
          </p:cNvPr>
          <p:cNvSpPr>
            <a:spLocks noGrp="1"/>
          </p:cNvSpPr>
          <p:nvPr>
            <p:ph type="body" sz="quarter" idx="15"/>
          </p:nvPr>
        </p:nvSpPr>
        <p:spPr>
          <a:xfrm>
            <a:off x="3580136" y="4491306"/>
            <a:ext cx="1983726" cy="601662"/>
          </a:xfrm>
        </p:spPr>
        <p:txBody>
          <a:bodyPr vert="horz" lIns="91440" tIns="45720" rIns="91440" bIns="45720" rtlCol="0" anchor="t">
            <a:noAutofit/>
          </a:bodyPr>
          <a:lstStyle/>
          <a:p>
            <a:r>
              <a:rPr lang="en-US" dirty="0"/>
              <a:t>14 - 35 days</a:t>
            </a:r>
          </a:p>
          <a:p>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07299" y="2616354"/>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889000"/>
          </a:xfrm>
        </p:spPr>
        <p:txBody>
          <a:bodyPr/>
          <a:lstStyle/>
          <a:p>
            <a:r>
              <a:rPr lang="en-IN" dirty="0"/>
              <a:t>Model Evaluation          &amp; </a:t>
            </a:r>
          </a:p>
          <a:p>
            <a:r>
              <a:rPr lang="en-IN" dirty="0"/>
              <a:t>Feature Importance</a:t>
            </a:r>
            <a:endParaRPr lang="en-US" dirty="0"/>
          </a:p>
        </p:txBody>
      </p:sp>
      <p:sp>
        <p:nvSpPr>
          <p:cNvPr id="13" name="Text Placeholder 12">
            <a:extLst>
              <a:ext uri="{FF2B5EF4-FFF2-40B4-BE49-F238E27FC236}">
                <a16:creationId xmlns:a16="http://schemas.microsoft.com/office/drawing/2014/main" id="{F62FF5CE-711D-42E8-B7EA-B1A1F772535A}"/>
              </a:ext>
            </a:extLst>
          </p:cNvPr>
          <p:cNvSpPr>
            <a:spLocks noGrp="1"/>
          </p:cNvSpPr>
          <p:nvPr>
            <p:ph type="body" sz="quarter" idx="16"/>
          </p:nvPr>
        </p:nvSpPr>
        <p:spPr>
          <a:xfrm>
            <a:off x="6628136" y="4983876"/>
            <a:ext cx="1983726" cy="601662"/>
          </a:xfrm>
        </p:spPr>
        <p:txBody>
          <a:bodyPr vert="horz" lIns="91440" tIns="45720" rIns="91440" bIns="45720" rtlCol="0" anchor="t">
            <a:noAutofit/>
          </a:bodyPr>
          <a:lstStyle/>
          <a:p>
            <a:r>
              <a:rPr lang="en-US" dirty="0"/>
              <a:t>35 days  – 60 days</a:t>
            </a:r>
          </a:p>
          <a:p>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4019516"/>
            <a:ext cx="2585943" cy="369311"/>
          </a:xfrm>
        </p:spPr>
        <p:txBody>
          <a:bodyPr/>
          <a:lstStyle/>
          <a:p>
            <a:r>
              <a:rPr lang="en-IN" dirty="0"/>
              <a:t>Model Deployment</a:t>
            </a:r>
            <a:endParaRPr lang="en-US" dirty="0"/>
          </a:p>
        </p:txBody>
      </p:sp>
      <p:sp>
        <p:nvSpPr>
          <p:cNvPr id="15" name="Text Placeholder 14">
            <a:extLst>
              <a:ext uri="{FF2B5EF4-FFF2-40B4-BE49-F238E27FC236}">
                <a16:creationId xmlns:a16="http://schemas.microsoft.com/office/drawing/2014/main" id="{6433887D-8F27-4450-A714-B160672FA7ED}"/>
              </a:ext>
            </a:extLst>
          </p:cNvPr>
          <p:cNvSpPr>
            <a:spLocks noGrp="1"/>
          </p:cNvSpPr>
          <p:nvPr>
            <p:ph type="body" sz="quarter" idx="17"/>
          </p:nvPr>
        </p:nvSpPr>
        <p:spPr>
          <a:xfrm>
            <a:off x="9676136" y="4491306"/>
            <a:ext cx="1983726" cy="601662"/>
          </a:xfrm>
        </p:spPr>
        <p:txBody>
          <a:bodyPr vert="horz" lIns="91440" tIns="45720" rIns="91440" bIns="45720" rtlCol="0" anchor="t">
            <a:noAutofit/>
          </a:bodyPr>
          <a:lstStyle/>
          <a:p>
            <a:r>
              <a:rPr lang="en-US" dirty="0"/>
              <a:t>60 days  – 80 days </a:t>
            </a:r>
          </a:p>
          <a:p>
            <a:endParaRPr lang="en-US" dirty="0"/>
          </a:p>
        </p:txBody>
      </p:sp>
    </p:spTree>
    <p:extLst>
      <p:ext uri="{BB962C8B-B14F-4D97-AF65-F5344CB8AC3E}">
        <p14:creationId xmlns:p14="http://schemas.microsoft.com/office/powerpoint/2010/main" val="333302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1000"/>
                                        <p:tgtEl>
                                          <p:spTgt spid="10">
                                            <p:txEl>
                                              <p:pRg st="0" end="0"/>
                                            </p:txEl>
                                          </p:spTgt>
                                        </p:tgtEl>
                                      </p:cBhvr>
                                    </p:animEffect>
                                    <p:anim calcmode="lin" valueType="num">
                                      <p:cBhvr>
                                        <p:cTn id="2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1000"/>
                                        <p:tgtEl>
                                          <p:spTgt spid="19">
                                            <p:txEl>
                                              <p:pRg st="0" end="0"/>
                                            </p:txEl>
                                          </p:spTgt>
                                        </p:tgtEl>
                                      </p:cBhvr>
                                    </p:animEffect>
                                    <p:anim calcmode="lin" valueType="num">
                                      <p:cBhvr>
                                        <p:cTn id="3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1000"/>
                                        <p:tgtEl>
                                          <p:spTgt spid="11">
                                            <p:txEl>
                                              <p:pRg st="0" end="0"/>
                                            </p:txEl>
                                          </p:spTgt>
                                        </p:tgtEl>
                                      </p:cBhvr>
                                    </p:animEffect>
                                    <p:anim calcmode="lin" valueType="num">
                                      <p:cBhvr>
                                        <p:cTn id="3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down)">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Effect transition="in" filter="fade">
                                      <p:cBhvr>
                                        <p:cTn id="47" dur="1000"/>
                                        <p:tgtEl>
                                          <p:spTgt spid="20">
                                            <p:txEl>
                                              <p:pRg st="0" end="0"/>
                                            </p:txEl>
                                          </p:spTgt>
                                        </p:tgtEl>
                                      </p:cBhvr>
                                    </p:animEffect>
                                    <p:anim calcmode="lin" valueType="num">
                                      <p:cBhvr>
                                        <p:cTn id="4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0">
                                            <p:txEl>
                                              <p:pRg st="1" end="1"/>
                                            </p:txEl>
                                          </p:spTgt>
                                        </p:tgtEl>
                                        <p:attrNameLst>
                                          <p:attrName>style.visibility</p:attrName>
                                        </p:attrNameLst>
                                      </p:cBhvr>
                                      <p:to>
                                        <p:strVal val="visible"/>
                                      </p:to>
                                    </p:set>
                                    <p:animEffect transition="in" filter="fade">
                                      <p:cBhvr>
                                        <p:cTn id="52" dur="1000"/>
                                        <p:tgtEl>
                                          <p:spTgt spid="20">
                                            <p:txEl>
                                              <p:pRg st="1" end="1"/>
                                            </p:txEl>
                                          </p:spTgt>
                                        </p:tgtEl>
                                      </p:cBhvr>
                                    </p:animEffect>
                                    <p:anim calcmode="lin" valueType="num">
                                      <p:cBhvr>
                                        <p:cTn id="53"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54" dur="1000" fill="hold"/>
                                        <p:tgtEl>
                                          <p:spTgt spid="20">
                                            <p:txEl>
                                              <p:pRg st="1" end="1"/>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xEl>
                                              <p:pRg st="0" end="0"/>
                                            </p:txEl>
                                          </p:spTgt>
                                        </p:tgtEl>
                                        <p:attrNameLst>
                                          <p:attrName>style.visibility</p:attrName>
                                        </p:attrNameLst>
                                      </p:cBhvr>
                                      <p:to>
                                        <p:strVal val="visible"/>
                                      </p:to>
                                    </p:set>
                                    <p:animEffect transition="in" filter="fade">
                                      <p:cBhvr>
                                        <p:cTn id="57" dur="1000"/>
                                        <p:tgtEl>
                                          <p:spTgt spid="13">
                                            <p:txEl>
                                              <p:pRg st="0" end="0"/>
                                            </p:txEl>
                                          </p:spTgt>
                                        </p:tgtEl>
                                      </p:cBhvr>
                                    </p:animEffect>
                                    <p:anim calcmode="lin" valueType="num">
                                      <p:cBhvr>
                                        <p:cTn id="5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wipe(down)">
                                      <p:cBhvr>
                                        <p:cTn id="64" dur="500"/>
                                        <p:tgtEl>
                                          <p:spTgt spid="41"/>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1">
                                            <p:txEl>
                                              <p:pRg st="0" end="0"/>
                                            </p:txEl>
                                          </p:spTgt>
                                        </p:tgtEl>
                                        <p:attrNameLst>
                                          <p:attrName>style.visibility</p:attrName>
                                        </p:attrNameLst>
                                      </p:cBhvr>
                                      <p:to>
                                        <p:strVal val="visible"/>
                                      </p:to>
                                    </p:set>
                                    <p:animEffect transition="in" filter="fade">
                                      <p:cBhvr>
                                        <p:cTn id="67" dur="1000"/>
                                        <p:tgtEl>
                                          <p:spTgt spid="21">
                                            <p:txEl>
                                              <p:pRg st="0" end="0"/>
                                            </p:txEl>
                                          </p:spTgt>
                                        </p:tgtEl>
                                      </p:cBhvr>
                                    </p:animEffect>
                                    <p:anim calcmode="lin" valueType="num">
                                      <p:cBhvr>
                                        <p:cTn id="68"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xEl>
                                              <p:pRg st="0" end="0"/>
                                            </p:txEl>
                                          </p:spTgt>
                                        </p:tgtEl>
                                        <p:attrNameLst>
                                          <p:attrName>style.visibility</p:attrName>
                                        </p:attrNameLst>
                                      </p:cBhvr>
                                      <p:to>
                                        <p:strVal val="visible"/>
                                      </p:to>
                                    </p:set>
                                    <p:animEffect transition="in" filter="fade">
                                      <p:cBhvr>
                                        <p:cTn id="72" dur="1000"/>
                                        <p:tgtEl>
                                          <p:spTgt spid="15">
                                            <p:txEl>
                                              <p:pRg st="0" end="0"/>
                                            </p:txEl>
                                          </p:spTgt>
                                        </p:tgtEl>
                                      </p:cBhvr>
                                    </p:animEffect>
                                    <p:anim calcmode="lin" valueType="num">
                                      <p:cBhvr>
                                        <p:cTn id="73"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0" grpId="0" build="p"/>
      <p:bldP spid="19" grpId="0" build="p"/>
      <p:bldP spid="11" grpId="0" build="p"/>
      <p:bldP spid="20" grpId="0" build="p"/>
      <p:bldP spid="13" grpId="0" build="p"/>
      <p:bldP spid="21" grpId="0" build="p"/>
      <p:bldP spid="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FC30-DAC3-D33F-D489-0F5EEE7C7125}"/>
              </a:ext>
            </a:extLst>
          </p:cNvPr>
          <p:cNvSpPr>
            <a:spLocks noGrp="1"/>
          </p:cNvSpPr>
          <p:nvPr>
            <p:ph type="title"/>
          </p:nvPr>
        </p:nvSpPr>
        <p:spPr>
          <a:xfrm>
            <a:off x="4916488" y="457200"/>
            <a:ext cx="6932612" cy="712840"/>
          </a:xfrm>
        </p:spPr>
        <p:txBody>
          <a:bodyPr/>
          <a:lstStyle/>
          <a:p>
            <a:r>
              <a:rPr lang="en-US" sz="3600" dirty="0"/>
              <a:t>Data preprocessing steps:</a:t>
            </a:r>
            <a:endParaRPr lang="en-IN" sz="3600" dirty="0"/>
          </a:p>
        </p:txBody>
      </p:sp>
      <p:pic>
        <p:nvPicPr>
          <p:cNvPr id="22" name="Picture Placeholder 21">
            <a:extLst>
              <a:ext uri="{FF2B5EF4-FFF2-40B4-BE49-F238E27FC236}">
                <a16:creationId xmlns:a16="http://schemas.microsoft.com/office/drawing/2014/main" id="{2866D31F-D900-4ACD-CE74-76182875B83F}"/>
              </a:ext>
            </a:extLst>
          </p:cNvPr>
          <p:cNvPicPr>
            <a:picLocks noGrp="1" noChangeAspect="1"/>
          </p:cNvPicPr>
          <p:nvPr>
            <p:ph type="pic" sz="quarter" idx="24"/>
          </p:nvPr>
        </p:nvPicPr>
        <p:blipFill>
          <a:blip r:embed="rId2"/>
          <a:srcRect l="89" r="89"/>
          <a:stretch>
            <a:fillRect/>
          </a:stretch>
        </p:blipFill>
        <p:spPr>
          <a:xfrm>
            <a:off x="1420936" y="466999"/>
            <a:ext cx="732330" cy="733640"/>
          </a:xfrm>
        </p:spPr>
      </p:pic>
      <p:sp>
        <p:nvSpPr>
          <p:cNvPr id="4" name="Text Placeholder 3">
            <a:extLst>
              <a:ext uri="{FF2B5EF4-FFF2-40B4-BE49-F238E27FC236}">
                <a16:creationId xmlns:a16="http://schemas.microsoft.com/office/drawing/2014/main" id="{526367B2-2187-DC68-7015-AF411DDD366E}"/>
              </a:ext>
            </a:extLst>
          </p:cNvPr>
          <p:cNvSpPr>
            <a:spLocks noGrp="1"/>
          </p:cNvSpPr>
          <p:nvPr>
            <p:ph type="body" sz="quarter" idx="39"/>
          </p:nvPr>
        </p:nvSpPr>
        <p:spPr/>
        <p:txBody>
          <a:bodyPr/>
          <a:lstStyle/>
          <a:p>
            <a:r>
              <a:rPr lang="en-IN" dirty="0"/>
              <a:t>Data Cleaning</a:t>
            </a:r>
          </a:p>
        </p:txBody>
      </p:sp>
      <p:sp>
        <p:nvSpPr>
          <p:cNvPr id="5" name="Text Placeholder 4">
            <a:extLst>
              <a:ext uri="{FF2B5EF4-FFF2-40B4-BE49-F238E27FC236}">
                <a16:creationId xmlns:a16="http://schemas.microsoft.com/office/drawing/2014/main" id="{EFA2D949-D263-CEB2-4D17-30AEC1E22053}"/>
              </a:ext>
            </a:extLst>
          </p:cNvPr>
          <p:cNvSpPr>
            <a:spLocks noGrp="1"/>
          </p:cNvSpPr>
          <p:nvPr>
            <p:ph type="body" sz="quarter" idx="38"/>
          </p:nvPr>
        </p:nvSpPr>
        <p:spPr/>
        <p:txBody>
          <a:bodyPr/>
          <a:lstStyle/>
          <a:p>
            <a:r>
              <a:rPr lang="en-US" sz="1200" dirty="0"/>
              <a:t>Remove or fill in missing or inconsistent data points to ensure the dataset is complete and ready for analysis.</a:t>
            </a:r>
            <a:endParaRPr lang="en-IN" sz="1200" dirty="0"/>
          </a:p>
        </p:txBody>
      </p:sp>
      <p:pic>
        <p:nvPicPr>
          <p:cNvPr id="24" name="Picture Placeholder 23">
            <a:extLst>
              <a:ext uri="{FF2B5EF4-FFF2-40B4-BE49-F238E27FC236}">
                <a16:creationId xmlns:a16="http://schemas.microsoft.com/office/drawing/2014/main" id="{327CA92C-0014-3F56-49A1-205A02CD6FB0}"/>
              </a:ext>
            </a:extLst>
          </p:cNvPr>
          <p:cNvPicPr>
            <a:picLocks noGrp="1" noChangeAspect="1"/>
          </p:cNvPicPr>
          <p:nvPr>
            <p:ph type="pic" sz="quarter" idx="40"/>
          </p:nvPr>
        </p:nvPicPr>
        <p:blipFill>
          <a:blip r:embed="rId3"/>
          <a:srcRect l="89" r="89"/>
          <a:stretch>
            <a:fillRect/>
          </a:stretch>
        </p:blipFill>
        <p:spPr>
          <a:xfrm>
            <a:off x="3458966" y="2484454"/>
            <a:ext cx="758834" cy="760191"/>
          </a:xfrm>
        </p:spPr>
      </p:pic>
      <p:sp>
        <p:nvSpPr>
          <p:cNvPr id="7" name="Text Placeholder 6">
            <a:extLst>
              <a:ext uri="{FF2B5EF4-FFF2-40B4-BE49-F238E27FC236}">
                <a16:creationId xmlns:a16="http://schemas.microsoft.com/office/drawing/2014/main" id="{312085C3-4B8E-4965-3246-AD17C426E895}"/>
              </a:ext>
            </a:extLst>
          </p:cNvPr>
          <p:cNvSpPr>
            <a:spLocks noGrp="1"/>
          </p:cNvSpPr>
          <p:nvPr>
            <p:ph type="body" sz="quarter" idx="42"/>
          </p:nvPr>
        </p:nvSpPr>
        <p:spPr/>
        <p:txBody>
          <a:bodyPr/>
          <a:lstStyle/>
          <a:p>
            <a:r>
              <a:rPr lang="en-IN" dirty="0"/>
              <a:t>Feature Selection</a:t>
            </a:r>
          </a:p>
        </p:txBody>
      </p:sp>
      <p:sp>
        <p:nvSpPr>
          <p:cNvPr id="8" name="Text Placeholder 7">
            <a:extLst>
              <a:ext uri="{FF2B5EF4-FFF2-40B4-BE49-F238E27FC236}">
                <a16:creationId xmlns:a16="http://schemas.microsoft.com/office/drawing/2014/main" id="{B9CB8B5B-5516-FADE-57FC-52A1E639219A}"/>
              </a:ext>
            </a:extLst>
          </p:cNvPr>
          <p:cNvSpPr>
            <a:spLocks noGrp="1"/>
          </p:cNvSpPr>
          <p:nvPr>
            <p:ph type="body" sz="quarter" idx="41"/>
          </p:nvPr>
        </p:nvSpPr>
        <p:spPr>
          <a:xfrm>
            <a:off x="4446156" y="2947712"/>
            <a:ext cx="2760889" cy="750760"/>
          </a:xfrm>
        </p:spPr>
        <p:txBody>
          <a:bodyPr/>
          <a:lstStyle/>
          <a:p>
            <a:r>
              <a:rPr lang="en-US" sz="1200" dirty="0"/>
              <a:t>Identify the most important variables (e.g., pollutants like PM2.5, PM10, and weather conditions) that contribute to AQI prediction, and remove less relevant features</a:t>
            </a:r>
            <a:r>
              <a:rPr lang="en-US" dirty="0"/>
              <a:t>.</a:t>
            </a:r>
            <a:endParaRPr lang="en-IN" dirty="0"/>
          </a:p>
        </p:txBody>
      </p:sp>
      <p:pic>
        <p:nvPicPr>
          <p:cNvPr id="26" name="Picture Placeholder 25">
            <a:extLst>
              <a:ext uri="{FF2B5EF4-FFF2-40B4-BE49-F238E27FC236}">
                <a16:creationId xmlns:a16="http://schemas.microsoft.com/office/drawing/2014/main" id="{F8200690-AED4-A9BC-F506-6220DCCA2066}"/>
              </a:ext>
            </a:extLst>
          </p:cNvPr>
          <p:cNvPicPr>
            <a:picLocks noGrp="1" noChangeAspect="1"/>
          </p:cNvPicPr>
          <p:nvPr>
            <p:ph type="pic" sz="quarter" idx="43"/>
          </p:nvPr>
        </p:nvPicPr>
        <p:blipFill>
          <a:blip r:embed="rId4"/>
          <a:srcRect l="89" r="89"/>
          <a:stretch>
            <a:fillRect/>
          </a:stretch>
        </p:blipFill>
        <p:spPr>
          <a:xfrm>
            <a:off x="8030969" y="2484454"/>
            <a:ext cx="711568" cy="712840"/>
          </a:xfrm>
        </p:spPr>
      </p:pic>
      <p:sp>
        <p:nvSpPr>
          <p:cNvPr id="10" name="Text Placeholder 9">
            <a:extLst>
              <a:ext uri="{FF2B5EF4-FFF2-40B4-BE49-F238E27FC236}">
                <a16:creationId xmlns:a16="http://schemas.microsoft.com/office/drawing/2014/main" id="{6423A7D2-0811-4992-FF09-80234B0B7B94}"/>
              </a:ext>
            </a:extLst>
          </p:cNvPr>
          <p:cNvSpPr>
            <a:spLocks noGrp="1"/>
          </p:cNvSpPr>
          <p:nvPr>
            <p:ph type="body" sz="quarter" idx="45"/>
          </p:nvPr>
        </p:nvSpPr>
        <p:spPr/>
        <p:txBody>
          <a:bodyPr/>
          <a:lstStyle/>
          <a:p>
            <a:r>
              <a:rPr lang="en-IN" dirty="0"/>
              <a:t>Normalization</a:t>
            </a:r>
          </a:p>
        </p:txBody>
      </p:sp>
      <p:sp>
        <p:nvSpPr>
          <p:cNvPr id="11" name="Text Placeholder 10">
            <a:extLst>
              <a:ext uri="{FF2B5EF4-FFF2-40B4-BE49-F238E27FC236}">
                <a16:creationId xmlns:a16="http://schemas.microsoft.com/office/drawing/2014/main" id="{61680715-F310-2070-5F5B-0F8FB55D9B2F}"/>
              </a:ext>
            </a:extLst>
          </p:cNvPr>
          <p:cNvSpPr>
            <a:spLocks noGrp="1"/>
          </p:cNvSpPr>
          <p:nvPr>
            <p:ph type="body" sz="quarter" idx="44"/>
          </p:nvPr>
        </p:nvSpPr>
        <p:spPr>
          <a:xfrm>
            <a:off x="9018159" y="2947712"/>
            <a:ext cx="2138339" cy="710144"/>
          </a:xfrm>
        </p:spPr>
        <p:txBody>
          <a:bodyPr/>
          <a:lstStyle/>
          <a:p>
            <a:r>
              <a:rPr lang="en-US" sz="1200" dirty="0"/>
              <a:t>Scale the data so that all features have comparable ranges, improving the performance of machine learning algorithms</a:t>
            </a:r>
            <a:r>
              <a:rPr lang="en-US" dirty="0"/>
              <a:t>.</a:t>
            </a:r>
            <a:endParaRPr lang="en-IN" dirty="0"/>
          </a:p>
        </p:txBody>
      </p:sp>
      <p:pic>
        <p:nvPicPr>
          <p:cNvPr id="28" name="Picture Placeholder 27">
            <a:extLst>
              <a:ext uri="{FF2B5EF4-FFF2-40B4-BE49-F238E27FC236}">
                <a16:creationId xmlns:a16="http://schemas.microsoft.com/office/drawing/2014/main" id="{D8E56FCE-8244-7A53-690C-D267D7B639C6}"/>
              </a:ext>
            </a:extLst>
          </p:cNvPr>
          <p:cNvPicPr>
            <a:picLocks noGrp="1" noChangeAspect="1"/>
          </p:cNvPicPr>
          <p:nvPr>
            <p:ph type="pic" sz="quarter" idx="46"/>
          </p:nvPr>
        </p:nvPicPr>
        <p:blipFill>
          <a:blip r:embed="rId5"/>
          <a:srcRect l="89" r="89"/>
          <a:stretch>
            <a:fillRect/>
          </a:stretch>
        </p:blipFill>
        <p:spPr>
          <a:xfrm>
            <a:off x="1420936" y="4162153"/>
            <a:ext cx="887413" cy="889000"/>
          </a:xfrm>
        </p:spPr>
      </p:pic>
      <p:sp>
        <p:nvSpPr>
          <p:cNvPr id="13" name="Text Placeholder 12">
            <a:extLst>
              <a:ext uri="{FF2B5EF4-FFF2-40B4-BE49-F238E27FC236}">
                <a16:creationId xmlns:a16="http://schemas.microsoft.com/office/drawing/2014/main" id="{BF758ECB-D1FA-96D1-9CFD-1AD21FD463BA}"/>
              </a:ext>
            </a:extLst>
          </p:cNvPr>
          <p:cNvSpPr>
            <a:spLocks noGrp="1"/>
          </p:cNvSpPr>
          <p:nvPr>
            <p:ph type="body" sz="quarter" idx="48"/>
          </p:nvPr>
        </p:nvSpPr>
        <p:spPr/>
        <p:txBody>
          <a:bodyPr/>
          <a:lstStyle/>
          <a:p>
            <a:r>
              <a:rPr lang="en-IN" dirty="0"/>
              <a:t>Handling Outliers</a:t>
            </a:r>
          </a:p>
        </p:txBody>
      </p:sp>
      <p:sp>
        <p:nvSpPr>
          <p:cNvPr id="14" name="Text Placeholder 13">
            <a:extLst>
              <a:ext uri="{FF2B5EF4-FFF2-40B4-BE49-F238E27FC236}">
                <a16:creationId xmlns:a16="http://schemas.microsoft.com/office/drawing/2014/main" id="{D01D072B-C63D-302E-A016-94AFCDAD3979}"/>
              </a:ext>
            </a:extLst>
          </p:cNvPr>
          <p:cNvSpPr>
            <a:spLocks noGrp="1"/>
          </p:cNvSpPr>
          <p:nvPr>
            <p:ph type="body" sz="quarter" idx="47"/>
          </p:nvPr>
        </p:nvSpPr>
        <p:spPr>
          <a:xfrm>
            <a:off x="2574051" y="4665042"/>
            <a:ext cx="2138339" cy="673874"/>
          </a:xfrm>
        </p:spPr>
        <p:txBody>
          <a:bodyPr/>
          <a:lstStyle/>
          <a:p>
            <a:r>
              <a:rPr lang="en-US" sz="1200" dirty="0"/>
              <a:t>Detect and address extreme values (outliers) that could distort the model’s learning process</a:t>
            </a:r>
            <a:r>
              <a:rPr lang="en-US" dirty="0"/>
              <a:t>.</a:t>
            </a:r>
            <a:endParaRPr lang="en-IN" dirty="0"/>
          </a:p>
        </p:txBody>
      </p:sp>
      <p:pic>
        <p:nvPicPr>
          <p:cNvPr id="30" name="Picture Placeholder 29">
            <a:extLst>
              <a:ext uri="{FF2B5EF4-FFF2-40B4-BE49-F238E27FC236}">
                <a16:creationId xmlns:a16="http://schemas.microsoft.com/office/drawing/2014/main" id="{63D5AF51-1A4F-4A96-86D5-6F85DD26B42E}"/>
              </a:ext>
            </a:extLst>
          </p:cNvPr>
          <p:cNvPicPr>
            <a:picLocks noGrp="1" noChangeAspect="1"/>
          </p:cNvPicPr>
          <p:nvPr>
            <p:ph type="pic" sz="quarter" idx="49"/>
          </p:nvPr>
        </p:nvPicPr>
        <p:blipFill>
          <a:blip r:embed="rId6"/>
          <a:srcRect l="89" r="89"/>
          <a:stretch>
            <a:fillRect/>
          </a:stretch>
        </p:blipFill>
        <p:spPr>
          <a:xfrm>
            <a:off x="6096000" y="4162153"/>
            <a:ext cx="887413" cy="889000"/>
          </a:xfrm>
        </p:spPr>
      </p:pic>
      <p:sp>
        <p:nvSpPr>
          <p:cNvPr id="16" name="Text Placeholder 15">
            <a:extLst>
              <a:ext uri="{FF2B5EF4-FFF2-40B4-BE49-F238E27FC236}">
                <a16:creationId xmlns:a16="http://schemas.microsoft.com/office/drawing/2014/main" id="{07D8257F-0E42-0F58-F69A-F7070BE614D9}"/>
              </a:ext>
            </a:extLst>
          </p:cNvPr>
          <p:cNvSpPr>
            <a:spLocks noGrp="1"/>
          </p:cNvSpPr>
          <p:nvPr>
            <p:ph type="body" sz="quarter" idx="51"/>
          </p:nvPr>
        </p:nvSpPr>
        <p:spPr>
          <a:xfrm>
            <a:off x="6983413" y="4144683"/>
            <a:ext cx="2138339" cy="299767"/>
          </a:xfrm>
        </p:spPr>
        <p:txBody>
          <a:bodyPr/>
          <a:lstStyle/>
          <a:p>
            <a:r>
              <a:rPr lang="en-IN" dirty="0"/>
              <a:t>Train-Test Split</a:t>
            </a:r>
          </a:p>
        </p:txBody>
      </p:sp>
      <p:sp>
        <p:nvSpPr>
          <p:cNvPr id="17" name="Text Placeholder 16">
            <a:extLst>
              <a:ext uri="{FF2B5EF4-FFF2-40B4-BE49-F238E27FC236}">
                <a16:creationId xmlns:a16="http://schemas.microsoft.com/office/drawing/2014/main" id="{6AD9525D-6DCB-E1B1-29DC-AB6E5F4B885C}"/>
              </a:ext>
            </a:extLst>
          </p:cNvPr>
          <p:cNvSpPr>
            <a:spLocks noGrp="1"/>
          </p:cNvSpPr>
          <p:nvPr>
            <p:ph type="body" sz="quarter" idx="50"/>
          </p:nvPr>
        </p:nvSpPr>
        <p:spPr>
          <a:xfrm>
            <a:off x="7030065" y="4548690"/>
            <a:ext cx="2281083" cy="710144"/>
          </a:xfrm>
        </p:spPr>
        <p:txBody>
          <a:bodyPr/>
          <a:lstStyle/>
          <a:p>
            <a:r>
              <a:rPr lang="en-US" sz="1200" dirty="0"/>
              <a:t>Divide the dataset into training and testing sets to evaluate the model’s performance on unseen data.</a:t>
            </a:r>
            <a:endParaRPr lang="en-IN" sz="1200" dirty="0"/>
          </a:p>
        </p:txBody>
      </p:sp>
      <p:pic>
        <p:nvPicPr>
          <p:cNvPr id="32" name="Picture Placeholder 31">
            <a:extLst>
              <a:ext uri="{FF2B5EF4-FFF2-40B4-BE49-F238E27FC236}">
                <a16:creationId xmlns:a16="http://schemas.microsoft.com/office/drawing/2014/main" id="{CF812499-B8D2-CC76-7B53-D0806E3FEC02}"/>
              </a:ext>
            </a:extLst>
          </p:cNvPr>
          <p:cNvPicPr>
            <a:picLocks noGrp="1" noChangeAspect="1"/>
          </p:cNvPicPr>
          <p:nvPr>
            <p:ph type="pic" sz="quarter" idx="52"/>
          </p:nvPr>
        </p:nvPicPr>
        <p:blipFill>
          <a:blip r:embed="rId7"/>
          <a:srcRect l="89" r="89"/>
          <a:stretch>
            <a:fillRect/>
          </a:stretch>
        </p:blipFill>
        <p:spPr>
          <a:xfrm>
            <a:off x="8027988" y="5637179"/>
            <a:ext cx="762258" cy="763621"/>
          </a:xfrm>
        </p:spPr>
      </p:pic>
      <p:sp>
        <p:nvSpPr>
          <p:cNvPr id="19" name="Text Placeholder 18">
            <a:extLst>
              <a:ext uri="{FF2B5EF4-FFF2-40B4-BE49-F238E27FC236}">
                <a16:creationId xmlns:a16="http://schemas.microsoft.com/office/drawing/2014/main" id="{37C52BA6-81A7-15EC-3903-D1AAD2F4C8D2}"/>
              </a:ext>
            </a:extLst>
          </p:cNvPr>
          <p:cNvSpPr>
            <a:spLocks noGrp="1"/>
          </p:cNvSpPr>
          <p:nvPr>
            <p:ph type="body" sz="quarter" idx="54"/>
          </p:nvPr>
        </p:nvSpPr>
        <p:spPr>
          <a:xfrm>
            <a:off x="9018159" y="5469834"/>
            <a:ext cx="2537725" cy="201861"/>
          </a:xfrm>
        </p:spPr>
        <p:txBody>
          <a:bodyPr/>
          <a:lstStyle/>
          <a:p>
            <a:r>
              <a:rPr lang="en-IN" dirty="0"/>
              <a:t>Data Transformation</a:t>
            </a:r>
          </a:p>
        </p:txBody>
      </p:sp>
      <p:sp>
        <p:nvSpPr>
          <p:cNvPr id="20" name="Text Placeholder 19">
            <a:extLst>
              <a:ext uri="{FF2B5EF4-FFF2-40B4-BE49-F238E27FC236}">
                <a16:creationId xmlns:a16="http://schemas.microsoft.com/office/drawing/2014/main" id="{63E1E641-652E-B4CB-73C2-EDFD598D0E22}"/>
              </a:ext>
            </a:extLst>
          </p:cNvPr>
          <p:cNvSpPr>
            <a:spLocks noGrp="1"/>
          </p:cNvSpPr>
          <p:nvPr>
            <p:ph type="body" sz="quarter" idx="53"/>
          </p:nvPr>
        </p:nvSpPr>
        <p:spPr>
          <a:xfrm>
            <a:off x="8853133" y="5820955"/>
            <a:ext cx="3100668" cy="601662"/>
          </a:xfrm>
        </p:spPr>
        <p:txBody>
          <a:bodyPr/>
          <a:lstStyle/>
          <a:p>
            <a:r>
              <a:rPr lang="en-US" sz="1200" dirty="0"/>
              <a:t>Apply techniques like encoding categorical variables or creating new features from existing ones to enhance the dataset's usability and relevance for the model.</a:t>
            </a:r>
            <a:endParaRPr lang="en-IN" sz="1200" dirty="0"/>
          </a:p>
        </p:txBody>
      </p:sp>
    </p:spTree>
    <p:extLst>
      <p:ext uri="{BB962C8B-B14F-4D97-AF65-F5344CB8AC3E}">
        <p14:creationId xmlns:p14="http://schemas.microsoft.com/office/powerpoint/2010/main" val="11395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anim calcmode="lin" valueType="num">
                                      <p:cBhvr>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animEffect transition="in" filter="fade">
                                      <p:cBhvr>
                                        <p:cTn id="30" dur="1000"/>
                                        <p:tgtEl>
                                          <p:spTgt spid="8">
                                            <p:txEl>
                                              <p:pRg st="0" end="0"/>
                                            </p:txEl>
                                          </p:spTgt>
                                        </p:tgtEl>
                                      </p:cBhvr>
                                    </p:animEffect>
                                    <p:anim calcmode="lin" valueType="num">
                                      <p:cBhvr>
                                        <p:cTn id="31"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500"/>
                                        <p:tgtEl>
                                          <p:spTgt spid="26"/>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fade">
                                      <p:cBhvr>
                                        <p:cTn id="40" dur="1000"/>
                                        <p:tgtEl>
                                          <p:spTgt spid="10">
                                            <p:txEl>
                                              <p:pRg st="0" end="0"/>
                                            </p:txEl>
                                          </p:spTgt>
                                        </p:tgtEl>
                                      </p:cBhvr>
                                    </p:animEffect>
                                    <p:anim calcmode="lin" valueType="num">
                                      <p:cBhvr>
                                        <p:cTn id="4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fade">
                                      <p:cBhvr>
                                        <p:cTn id="45" dur="1000"/>
                                        <p:tgtEl>
                                          <p:spTgt spid="11">
                                            <p:txEl>
                                              <p:pRg st="0" end="0"/>
                                            </p:txEl>
                                          </p:spTgt>
                                        </p:tgtEl>
                                      </p:cBhvr>
                                    </p:animEffect>
                                    <p:anim calcmode="lin" valueType="num">
                                      <p:cBhvr>
                                        <p:cTn id="4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Effect transition="in" filter="fade">
                                      <p:cBhvr>
                                        <p:cTn id="55" dur="1000"/>
                                        <p:tgtEl>
                                          <p:spTgt spid="13">
                                            <p:txEl>
                                              <p:pRg st="0" end="0"/>
                                            </p:txEl>
                                          </p:spTgt>
                                        </p:tgtEl>
                                      </p:cBhvr>
                                    </p:animEffect>
                                    <p:anim calcmode="lin" valueType="num">
                                      <p:cBhvr>
                                        <p:cTn id="5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4">
                                            <p:txEl>
                                              <p:pRg st="0" end="0"/>
                                            </p:txEl>
                                          </p:spTgt>
                                        </p:tgtEl>
                                        <p:attrNameLst>
                                          <p:attrName>style.visibility</p:attrName>
                                        </p:attrNameLst>
                                      </p:cBhvr>
                                      <p:to>
                                        <p:strVal val="visible"/>
                                      </p:to>
                                    </p:set>
                                    <p:animEffect transition="in" filter="fade">
                                      <p:cBhvr>
                                        <p:cTn id="60" dur="1000"/>
                                        <p:tgtEl>
                                          <p:spTgt spid="14">
                                            <p:txEl>
                                              <p:pRg st="0" end="0"/>
                                            </p:txEl>
                                          </p:spTgt>
                                        </p:tgtEl>
                                      </p:cBhvr>
                                    </p:animEffect>
                                    <p:anim calcmode="lin" valueType="num">
                                      <p:cBhvr>
                                        <p:cTn id="6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2"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down)">
                                      <p:cBhvr>
                                        <p:cTn id="67" dur="500"/>
                                        <p:tgtEl>
                                          <p:spTgt spid="30"/>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16">
                                            <p:txEl>
                                              <p:pRg st="0" end="0"/>
                                            </p:txEl>
                                          </p:spTgt>
                                        </p:tgtEl>
                                        <p:attrNameLst>
                                          <p:attrName>style.visibility</p:attrName>
                                        </p:attrNameLst>
                                      </p:cBhvr>
                                      <p:to>
                                        <p:strVal val="visible"/>
                                      </p:to>
                                    </p:set>
                                    <p:animEffect transition="in" filter="fade">
                                      <p:cBhvr>
                                        <p:cTn id="70" dur="1000"/>
                                        <p:tgtEl>
                                          <p:spTgt spid="16">
                                            <p:txEl>
                                              <p:pRg st="0" end="0"/>
                                            </p:txEl>
                                          </p:spTgt>
                                        </p:tgtEl>
                                      </p:cBhvr>
                                    </p:animEffect>
                                    <p:anim calcmode="lin" valueType="num">
                                      <p:cBhvr>
                                        <p:cTn id="71"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7">
                                            <p:txEl>
                                              <p:pRg st="0" end="0"/>
                                            </p:txEl>
                                          </p:spTgt>
                                        </p:tgtEl>
                                        <p:attrNameLst>
                                          <p:attrName>style.visibility</p:attrName>
                                        </p:attrNameLst>
                                      </p:cBhvr>
                                      <p:to>
                                        <p:strVal val="visible"/>
                                      </p:to>
                                    </p:set>
                                    <p:animEffect transition="in" filter="fade">
                                      <p:cBhvr>
                                        <p:cTn id="75" dur="1000"/>
                                        <p:tgtEl>
                                          <p:spTgt spid="17">
                                            <p:txEl>
                                              <p:pRg st="0" end="0"/>
                                            </p:txEl>
                                          </p:spTgt>
                                        </p:tgtEl>
                                      </p:cBhvr>
                                    </p:animEffect>
                                    <p:anim calcmode="lin" valueType="num">
                                      <p:cBhvr>
                                        <p:cTn id="7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down)">
                                      <p:cBhvr>
                                        <p:cTn id="82" dur="500"/>
                                        <p:tgtEl>
                                          <p:spTgt spid="32"/>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1000"/>
                                        <p:tgtEl>
                                          <p:spTgt spid="19">
                                            <p:txEl>
                                              <p:pRg st="0" end="0"/>
                                            </p:txEl>
                                          </p:spTgt>
                                        </p:tgtEl>
                                      </p:cBhvr>
                                    </p:animEffect>
                                    <p:anim calcmode="lin" valueType="num">
                                      <p:cBhvr>
                                        <p:cTn id="8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87"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xEl>
                                              <p:pRg st="0" end="0"/>
                                            </p:txEl>
                                          </p:spTgt>
                                        </p:tgtEl>
                                        <p:attrNameLst>
                                          <p:attrName>style.visibility</p:attrName>
                                        </p:attrNameLst>
                                      </p:cBhvr>
                                      <p:to>
                                        <p:strVal val="visible"/>
                                      </p:to>
                                    </p:set>
                                    <p:animEffect transition="in" filter="fade">
                                      <p:cBhvr>
                                        <p:cTn id="90" dur="1000"/>
                                        <p:tgtEl>
                                          <p:spTgt spid="20">
                                            <p:txEl>
                                              <p:pRg st="0" end="0"/>
                                            </p:txEl>
                                          </p:spTgt>
                                        </p:tgtEl>
                                      </p:cBhvr>
                                    </p:animEffect>
                                    <p:anim calcmode="lin" valueType="num">
                                      <p:cBhvr>
                                        <p:cTn id="91"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2"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P spid="8" grpId="0" build="p"/>
      <p:bldP spid="10" grpId="0" build="p"/>
      <p:bldP spid="11" grpId="0" build="p"/>
      <p:bldP spid="13" grpId="0" build="p"/>
      <p:bldP spid="14" grpId="0" build="p"/>
      <p:bldP spid="16" grpId="0" build="p"/>
      <p:bldP spid="17" grpId="0" build="p"/>
      <p:bldP spid="19" grpId="0" build="p"/>
      <p:bldP spid="2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25BA5-9FA7-4106-AC33-85F2D35EC4FA}"/>
              </a:ext>
            </a:extLst>
          </p:cNvPr>
          <p:cNvSpPr>
            <a:spLocks noGrp="1"/>
          </p:cNvSpPr>
          <p:nvPr>
            <p:ph type="title"/>
          </p:nvPr>
        </p:nvSpPr>
        <p:spPr>
          <a:xfrm>
            <a:off x="66405" y="1494080"/>
            <a:ext cx="5029199" cy="2862072"/>
          </a:xfrm>
        </p:spPr>
        <p:txBody>
          <a:bodyPr/>
          <a:lstStyle/>
          <a:p>
            <a:r>
              <a:rPr lang="en-US" sz="4800" dirty="0"/>
              <a:t>Model </a:t>
            </a:r>
            <a:br>
              <a:rPr lang="en-US" sz="4800" dirty="0"/>
            </a:br>
            <a:r>
              <a:rPr lang="en-US" sz="4800" dirty="0" err="1"/>
              <a:t>Devlopment</a:t>
            </a:r>
            <a:r>
              <a:rPr lang="en-US" sz="4800" dirty="0"/>
              <a:t>: </a:t>
            </a:r>
          </a:p>
        </p:txBody>
      </p:sp>
      <p:pic>
        <p:nvPicPr>
          <p:cNvPr id="52" name="Picture Placeholder 51">
            <a:extLst>
              <a:ext uri="{FF2B5EF4-FFF2-40B4-BE49-F238E27FC236}">
                <a16:creationId xmlns:a16="http://schemas.microsoft.com/office/drawing/2014/main" id="{05183537-C2C3-43F6-935E-27E647202486}"/>
              </a:ext>
            </a:extLst>
          </p:cNvPr>
          <p:cNvPicPr>
            <a:picLocks noGrp="1" noChangeAspect="1"/>
          </p:cNvPicPr>
          <p:nvPr>
            <p:ph type="pic" sz="quarter" idx="10"/>
          </p:nvPr>
        </p:nvPicPr>
        <p:blipFill>
          <a:blip r:embed="rId3"/>
          <a:srcRect/>
          <a:stretch/>
        </p:blipFill>
        <p:spPr>
          <a:xfrm>
            <a:off x="4455525" y="467895"/>
            <a:ext cx="640080" cy="640080"/>
          </a:xfrm>
        </p:spPr>
      </p:pic>
      <p:pic>
        <p:nvPicPr>
          <p:cNvPr id="57" name="Picture Placeholder 56">
            <a:extLst>
              <a:ext uri="{FF2B5EF4-FFF2-40B4-BE49-F238E27FC236}">
                <a16:creationId xmlns:a16="http://schemas.microsoft.com/office/drawing/2014/main" id="{A83112AD-B949-4C0B-B56E-D32DC625D856}"/>
              </a:ext>
            </a:extLst>
          </p:cNvPr>
          <p:cNvPicPr>
            <a:picLocks noGrp="1" noChangeAspect="1"/>
          </p:cNvPicPr>
          <p:nvPr>
            <p:ph type="pic" sz="quarter" idx="11"/>
          </p:nvPr>
        </p:nvPicPr>
        <p:blipFill>
          <a:blip r:embed="rId4"/>
          <a:srcRect/>
          <a:stretch/>
        </p:blipFill>
        <p:spPr/>
      </p:pic>
      <p:pic>
        <p:nvPicPr>
          <p:cNvPr id="55" name="Picture Placeholder 54">
            <a:extLst>
              <a:ext uri="{FF2B5EF4-FFF2-40B4-BE49-F238E27FC236}">
                <a16:creationId xmlns:a16="http://schemas.microsoft.com/office/drawing/2014/main" id="{FBE14225-80F2-406E-9F56-CBFC89FC7CDF}"/>
              </a:ext>
            </a:extLst>
          </p:cNvPr>
          <p:cNvPicPr>
            <a:picLocks noGrp="1" noChangeAspect="1"/>
          </p:cNvPicPr>
          <p:nvPr>
            <p:ph type="pic" sz="quarter" idx="12"/>
          </p:nvPr>
        </p:nvPicPr>
        <p:blipFill>
          <a:blip r:embed="rId5"/>
          <a:srcRect/>
          <a:stretch/>
        </p:blipFill>
        <p:spPr>
          <a:xfrm>
            <a:off x="4455524" y="4393717"/>
            <a:ext cx="640080" cy="640080"/>
          </a:xfrm>
        </p:spPr>
      </p:pic>
      <p:sp>
        <p:nvSpPr>
          <p:cNvPr id="5" name="Text Placeholder 4">
            <a:extLst>
              <a:ext uri="{FF2B5EF4-FFF2-40B4-BE49-F238E27FC236}">
                <a16:creationId xmlns:a16="http://schemas.microsoft.com/office/drawing/2014/main" id="{C30E64BD-FC67-4B26-8FED-8E078A3CF228}"/>
              </a:ext>
            </a:extLst>
          </p:cNvPr>
          <p:cNvSpPr>
            <a:spLocks noGrp="1"/>
          </p:cNvSpPr>
          <p:nvPr>
            <p:ph type="body" sz="quarter" idx="19"/>
          </p:nvPr>
        </p:nvSpPr>
        <p:spPr>
          <a:xfrm>
            <a:off x="5681374" y="5443149"/>
            <a:ext cx="6058342" cy="1151455"/>
          </a:xfrm>
        </p:spPr>
        <p:txBody>
          <a:bodyPr/>
          <a:lstStyle/>
          <a:p>
            <a:r>
              <a:rPr lang="en-US" sz="1800" b="1" dirty="0"/>
              <a:t>Random Forest Regressor</a:t>
            </a:r>
            <a:r>
              <a:rPr lang="en-US" sz="1800" dirty="0"/>
              <a:t>: Combines multiple decision trees to improve prediction accuracy and reduce overfitting by averaging their results.</a:t>
            </a:r>
          </a:p>
        </p:txBody>
      </p:sp>
      <p:pic>
        <p:nvPicPr>
          <p:cNvPr id="50" name="Picture Placeholder 49" descr="Seed Packet">
            <a:extLst>
              <a:ext uri="{FF2B5EF4-FFF2-40B4-BE49-F238E27FC236}">
                <a16:creationId xmlns:a16="http://schemas.microsoft.com/office/drawing/2014/main" id="{BC1A8F56-CD55-494E-91FC-4D0C55EE3922}"/>
              </a:ext>
            </a:extLst>
          </p:cNvPr>
          <p:cNvPicPr>
            <a:picLocks noGrp="1" noChangeAspect="1"/>
          </p:cNvPicPr>
          <p:nvPr>
            <p:ph sz="half" idx="429496729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p:blipFill>
        <p:spPr>
          <a:xfrm>
            <a:off x="566057" y="1257888"/>
            <a:ext cx="914400" cy="914400"/>
          </a:xfrm>
        </p:spPr>
      </p:pic>
      <p:sp>
        <p:nvSpPr>
          <p:cNvPr id="6" name="Text Placeholder 5">
            <a:extLst>
              <a:ext uri="{FF2B5EF4-FFF2-40B4-BE49-F238E27FC236}">
                <a16:creationId xmlns:a16="http://schemas.microsoft.com/office/drawing/2014/main" id="{222A79B1-DFEC-45D8-C0AA-C8A72CACA3DC}"/>
              </a:ext>
            </a:extLst>
          </p:cNvPr>
          <p:cNvSpPr>
            <a:spLocks noGrp="1"/>
          </p:cNvSpPr>
          <p:nvPr>
            <p:ph type="body" sz="quarter" idx="15"/>
          </p:nvPr>
        </p:nvSpPr>
        <p:spPr>
          <a:xfrm>
            <a:off x="5769864" y="299323"/>
            <a:ext cx="5645063" cy="867171"/>
          </a:xfrm>
        </p:spPr>
        <p:txBody>
          <a:bodyPr/>
          <a:lstStyle/>
          <a:p>
            <a:r>
              <a:rPr lang="en-US" b="1" dirty="0"/>
              <a:t>Linear Regression</a:t>
            </a:r>
            <a:r>
              <a:rPr lang="en-US" dirty="0"/>
              <a:t>: Builds a model to predict AQI based on a linear relationship between predictor variables and the target variable.</a:t>
            </a:r>
            <a:endParaRPr lang="en-IN" dirty="0"/>
          </a:p>
        </p:txBody>
      </p:sp>
      <p:sp>
        <p:nvSpPr>
          <p:cNvPr id="13" name="Text Placeholder 12">
            <a:extLst>
              <a:ext uri="{FF2B5EF4-FFF2-40B4-BE49-F238E27FC236}">
                <a16:creationId xmlns:a16="http://schemas.microsoft.com/office/drawing/2014/main" id="{7BBD9DA1-FF88-F29B-2E51-D9DA7A7D801C}"/>
              </a:ext>
            </a:extLst>
          </p:cNvPr>
          <p:cNvSpPr>
            <a:spLocks noGrp="1"/>
          </p:cNvSpPr>
          <p:nvPr>
            <p:ph type="body" sz="quarter" idx="16"/>
          </p:nvPr>
        </p:nvSpPr>
        <p:spPr>
          <a:xfrm>
            <a:off x="5769864" y="1590477"/>
            <a:ext cx="5969852" cy="794125"/>
          </a:xfrm>
        </p:spPr>
        <p:txBody>
          <a:bodyPr/>
          <a:lstStyle/>
          <a:p>
            <a:r>
              <a:rPr lang="en-US" sz="1800" b="1" dirty="0"/>
              <a:t>LASSO Regression</a:t>
            </a:r>
            <a:r>
              <a:rPr lang="en-US" sz="1800" dirty="0"/>
              <a:t>: Enhances linear regression by adding a penalty for large coefficients to prevent overfitting and improve model generalization.</a:t>
            </a:r>
            <a:endParaRPr lang="en-IN" sz="1800" dirty="0"/>
          </a:p>
        </p:txBody>
      </p:sp>
      <p:sp>
        <p:nvSpPr>
          <p:cNvPr id="27" name="Text Placeholder 26">
            <a:extLst>
              <a:ext uri="{FF2B5EF4-FFF2-40B4-BE49-F238E27FC236}">
                <a16:creationId xmlns:a16="http://schemas.microsoft.com/office/drawing/2014/main" id="{CD754EBB-96BD-2FCC-BD90-23D535EAE009}"/>
              </a:ext>
            </a:extLst>
          </p:cNvPr>
          <p:cNvSpPr>
            <a:spLocks noGrp="1"/>
          </p:cNvSpPr>
          <p:nvPr>
            <p:ph type="body" sz="quarter" idx="17"/>
          </p:nvPr>
        </p:nvSpPr>
        <p:spPr>
          <a:xfrm>
            <a:off x="5668325" y="2808585"/>
            <a:ext cx="6261419" cy="1151457"/>
          </a:xfrm>
        </p:spPr>
        <p:txBody>
          <a:bodyPr/>
          <a:lstStyle/>
          <a:p>
            <a:r>
              <a:rPr lang="en-US" sz="1800" b="1" dirty="0"/>
              <a:t>Decision Tree Regressor</a:t>
            </a:r>
            <a:r>
              <a:rPr lang="en-US" sz="1800" dirty="0"/>
              <a:t>: Creates a model that splits data into subsets based on feature values, making predictions based on the majority class or average outcome in each subset</a:t>
            </a:r>
            <a:r>
              <a:rPr lang="en-US" dirty="0"/>
              <a:t>.</a:t>
            </a:r>
            <a:endParaRPr lang="en-IN" dirty="0"/>
          </a:p>
        </p:txBody>
      </p:sp>
      <p:sp>
        <p:nvSpPr>
          <p:cNvPr id="30" name="Text Placeholder 29">
            <a:extLst>
              <a:ext uri="{FF2B5EF4-FFF2-40B4-BE49-F238E27FC236}">
                <a16:creationId xmlns:a16="http://schemas.microsoft.com/office/drawing/2014/main" id="{00582550-41FF-4491-1D0D-CCFC5FE4423F}"/>
              </a:ext>
            </a:extLst>
          </p:cNvPr>
          <p:cNvSpPr>
            <a:spLocks noGrp="1"/>
          </p:cNvSpPr>
          <p:nvPr>
            <p:ph type="body" sz="quarter" idx="18"/>
          </p:nvPr>
        </p:nvSpPr>
        <p:spPr>
          <a:xfrm>
            <a:off x="5619164" y="4234016"/>
            <a:ext cx="6261419" cy="1151456"/>
          </a:xfrm>
        </p:spPr>
        <p:txBody>
          <a:bodyPr/>
          <a:lstStyle/>
          <a:p>
            <a:r>
              <a:rPr lang="en-US" sz="1800" b="1" dirty="0"/>
              <a:t>KNN Regressor</a:t>
            </a:r>
            <a:r>
              <a:rPr lang="en-US" sz="1800" dirty="0"/>
              <a:t>: Predicts AQI by averaging the values of the nearest neighbors in the feature space, providing a non-parametric approach to modeling.</a:t>
            </a:r>
            <a:endParaRPr lang="en-IN" sz="1800" dirty="0"/>
          </a:p>
        </p:txBody>
      </p:sp>
      <p:pic>
        <p:nvPicPr>
          <p:cNvPr id="36" name="Picture Placeholder 54">
            <a:extLst>
              <a:ext uri="{FF2B5EF4-FFF2-40B4-BE49-F238E27FC236}">
                <a16:creationId xmlns:a16="http://schemas.microsoft.com/office/drawing/2014/main" id="{07FA0ABD-C6C1-F2D3-50EC-090FE88C9888}"/>
              </a:ext>
            </a:extLst>
          </p:cNvPr>
          <p:cNvPicPr>
            <a:picLocks noChangeAspect="1"/>
          </p:cNvPicPr>
          <p:nvPr/>
        </p:nvPicPr>
        <p:blipFill>
          <a:blip r:embed="rId8"/>
          <a:srcRect/>
          <a:stretch/>
        </p:blipFill>
        <p:spPr>
          <a:xfrm>
            <a:off x="4315686" y="5551445"/>
            <a:ext cx="640080" cy="640080"/>
          </a:xfrm>
          <a:prstGeom prst="rect">
            <a:avLst/>
          </a:prstGeom>
        </p:spPr>
      </p:pic>
      <p:pic>
        <p:nvPicPr>
          <p:cNvPr id="42" name="Picture Placeholder 54" descr="Plant">
            <a:extLst>
              <a:ext uri="{FF2B5EF4-FFF2-40B4-BE49-F238E27FC236}">
                <a16:creationId xmlns:a16="http://schemas.microsoft.com/office/drawing/2014/main" id="{46AEFE63-A074-C17C-D2F3-67EBC0E70BE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639324" y="5808056"/>
            <a:ext cx="421640" cy="421640"/>
          </a:xfrm>
          <a:prstGeom prst="rect">
            <a:avLst/>
          </a:prstGeom>
        </p:spPr>
      </p:pic>
      <p:pic>
        <p:nvPicPr>
          <p:cNvPr id="49" name="Picture 48">
            <a:extLst>
              <a:ext uri="{FF2B5EF4-FFF2-40B4-BE49-F238E27FC236}">
                <a16:creationId xmlns:a16="http://schemas.microsoft.com/office/drawing/2014/main" id="{E0695D9A-F1E1-728E-4FF4-2B74D08F9687}"/>
              </a:ext>
            </a:extLst>
          </p:cNvPr>
          <p:cNvPicPr>
            <a:picLocks noChangeAspect="1"/>
          </p:cNvPicPr>
          <p:nvPr/>
        </p:nvPicPr>
        <p:blipFill>
          <a:blip r:embed="rId11"/>
          <a:stretch>
            <a:fillRect/>
          </a:stretch>
        </p:blipFill>
        <p:spPr>
          <a:xfrm>
            <a:off x="4390503" y="2925117"/>
            <a:ext cx="705102" cy="705102"/>
          </a:xfrm>
          <a:prstGeom prst="rect">
            <a:avLst/>
          </a:prstGeom>
        </p:spPr>
      </p:pic>
    </p:spTree>
    <p:extLst>
      <p:ext uri="{BB962C8B-B14F-4D97-AF65-F5344CB8AC3E}">
        <p14:creationId xmlns:p14="http://schemas.microsoft.com/office/powerpoint/2010/main" val="339851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anim calcmode="lin" valueType="num">
                                      <p:cBhvr>
                                        <p:cTn id="1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wipe(down)">
                                      <p:cBhvr>
                                        <p:cTn id="17" dur="500"/>
                                        <p:tgtEl>
                                          <p:spTgt spid="57"/>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fade">
                                      <p:cBhvr>
                                        <p:cTn id="20" dur="1000"/>
                                        <p:tgtEl>
                                          <p:spTgt spid="13">
                                            <p:txEl>
                                              <p:pRg st="0" end="0"/>
                                            </p:txEl>
                                          </p:spTgt>
                                        </p:tgtEl>
                                      </p:cBhvr>
                                    </p:animEffect>
                                    <p:anim calcmode="lin" valueType="num">
                                      <p:cBhvr>
                                        <p:cTn id="21"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fade">
                                      <p:cBhvr>
                                        <p:cTn id="27" dur="1000"/>
                                        <p:tgtEl>
                                          <p:spTgt spid="49"/>
                                        </p:tgtEl>
                                      </p:cBhvr>
                                    </p:animEffect>
                                    <p:anim calcmode="lin" valueType="num">
                                      <p:cBhvr>
                                        <p:cTn id="28" dur="1000" fill="hold"/>
                                        <p:tgtEl>
                                          <p:spTgt spid="49"/>
                                        </p:tgtEl>
                                        <p:attrNameLst>
                                          <p:attrName>ppt_x</p:attrName>
                                        </p:attrNameLst>
                                      </p:cBhvr>
                                      <p:tavLst>
                                        <p:tav tm="0">
                                          <p:val>
                                            <p:strVal val="#ppt_x"/>
                                          </p:val>
                                        </p:tav>
                                        <p:tav tm="100000">
                                          <p:val>
                                            <p:strVal val="#ppt_x"/>
                                          </p:val>
                                        </p:tav>
                                      </p:tavLst>
                                    </p:anim>
                                    <p:anim calcmode="lin" valueType="num">
                                      <p:cBhvr>
                                        <p:cTn id="29" dur="1000" fill="hold"/>
                                        <p:tgtEl>
                                          <p:spTgt spid="49"/>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xEl>
                                              <p:pRg st="0" end="0"/>
                                            </p:txEl>
                                          </p:spTgt>
                                        </p:tgtEl>
                                        <p:attrNameLst>
                                          <p:attrName>style.visibility</p:attrName>
                                        </p:attrNameLst>
                                      </p:cBhvr>
                                      <p:to>
                                        <p:strVal val="visible"/>
                                      </p:to>
                                    </p:set>
                                    <p:animEffect transition="in" filter="fade">
                                      <p:cBhvr>
                                        <p:cTn id="32" dur="1000"/>
                                        <p:tgtEl>
                                          <p:spTgt spid="27">
                                            <p:txEl>
                                              <p:pRg st="0" end="0"/>
                                            </p:txEl>
                                          </p:spTgt>
                                        </p:tgtEl>
                                      </p:cBhvr>
                                    </p:animEffect>
                                    <p:anim calcmode="lin" valueType="num">
                                      <p:cBhvr>
                                        <p:cTn id="33"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wipe(down)">
                                      <p:cBhvr>
                                        <p:cTn id="39" dur="500"/>
                                        <p:tgtEl>
                                          <p:spTgt spid="55"/>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30">
                                            <p:txEl>
                                              <p:pRg st="0" end="0"/>
                                            </p:txEl>
                                          </p:spTgt>
                                        </p:tgtEl>
                                        <p:attrNameLst>
                                          <p:attrName>style.visibility</p:attrName>
                                        </p:attrNameLst>
                                      </p:cBhvr>
                                      <p:to>
                                        <p:strVal val="visible"/>
                                      </p:to>
                                    </p:set>
                                    <p:animEffect transition="in" filter="fade">
                                      <p:cBhvr>
                                        <p:cTn id="42" dur="1000"/>
                                        <p:tgtEl>
                                          <p:spTgt spid="30">
                                            <p:txEl>
                                              <p:pRg st="0" end="0"/>
                                            </p:txEl>
                                          </p:spTgt>
                                        </p:tgtEl>
                                      </p:cBhvr>
                                    </p:animEffect>
                                    <p:anim calcmode="lin" valueType="num">
                                      <p:cBhvr>
                                        <p:cTn id="43"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down)">
                                      <p:cBhvr>
                                        <p:cTn id="49" dur="500"/>
                                        <p:tgtEl>
                                          <p:spTgt spid="36"/>
                                        </p:tgtEl>
                                      </p:cBhvr>
                                    </p:animEffect>
                                  </p:childTnLst>
                                </p:cTn>
                              </p:par>
                              <p:par>
                                <p:cTn id="50" presetID="22" presetClass="entr" presetSubtype="4" fill="hold" nodeType="with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down)">
                                      <p:cBhvr>
                                        <p:cTn id="52" dur="500"/>
                                        <p:tgtEl>
                                          <p:spTgt spid="42"/>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animEffect transition="in" filter="fade">
                                      <p:cBhvr>
                                        <p:cTn id="55" dur="1000"/>
                                        <p:tgtEl>
                                          <p:spTgt spid="5">
                                            <p:txEl>
                                              <p:pRg st="0" end="0"/>
                                            </p:txEl>
                                          </p:spTgt>
                                        </p:tgtEl>
                                      </p:cBhvr>
                                    </p:animEffect>
                                    <p:anim calcmode="lin" valueType="num">
                                      <p:cBhvr>
                                        <p:cTn id="5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13" grpId="0" build="p"/>
      <p:bldP spid="27" grpId="0" build="p"/>
      <p:bldP spid="3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25BA5-9FA7-4106-AC33-85F2D35EC4FA}"/>
              </a:ext>
            </a:extLst>
          </p:cNvPr>
          <p:cNvSpPr>
            <a:spLocks noGrp="1"/>
          </p:cNvSpPr>
          <p:nvPr>
            <p:ph type="title"/>
          </p:nvPr>
        </p:nvSpPr>
        <p:spPr>
          <a:xfrm>
            <a:off x="66405" y="1417297"/>
            <a:ext cx="5029199" cy="2862072"/>
          </a:xfrm>
        </p:spPr>
        <p:txBody>
          <a:bodyPr/>
          <a:lstStyle/>
          <a:p>
            <a:r>
              <a:rPr lang="en-US" sz="4800" dirty="0"/>
              <a:t>Model </a:t>
            </a:r>
            <a:br>
              <a:rPr lang="en-US" sz="4800" dirty="0"/>
            </a:br>
            <a:r>
              <a:rPr lang="en-US" sz="4800" dirty="0" err="1"/>
              <a:t>Devlopment</a:t>
            </a:r>
            <a:r>
              <a:rPr lang="en-US" sz="4800" dirty="0"/>
              <a:t>: </a:t>
            </a:r>
          </a:p>
        </p:txBody>
      </p:sp>
      <p:pic>
        <p:nvPicPr>
          <p:cNvPr id="52" name="Picture Placeholder 51">
            <a:extLst>
              <a:ext uri="{FF2B5EF4-FFF2-40B4-BE49-F238E27FC236}">
                <a16:creationId xmlns:a16="http://schemas.microsoft.com/office/drawing/2014/main" id="{05183537-C2C3-43F6-935E-27E647202486}"/>
              </a:ext>
            </a:extLst>
          </p:cNvPr>
          <p:cNvPicPr>
            <a:picLocks noGrp="1" noChangeAspect="1"/>
          </p:cNvPicPr>
          <p:nvPr>
            <p:ph type="pic" sz="quarter" idx="10"/>
          </p:nvPr>
        </p:nvPicPr>
        <p:blipFill>
          <a:blip r:embed="rId3"/>
          <a:srcRect/>
          <a:stretch/>
        </p:blipFill>
        <p:spPr>
          <a:xfrm rot="7681301">
            <a:off x="4455524" y="467895"/>
            <a:ext cx="640080" cy="640080"/>
          </a:xfrm>
        </p:spPr>
      </p:pic>
      <p:pic>
        <p:nvPicPr>
          <p:cNvPr id="57" name="Picture Placeholder 56">
            <a:extLst>
              <a:ext uri="{FF2B5EF4-FFF2-40B4-BE49-F238E27FC236}">
                <a16:creationId xmlns:a16="http://schemas.microsoft.com/office/drawing/2014/main" id="{A83112AD-B949-4C0B-B56E-D32DC625D856}"/>
              </a:ext>
            </a:extLst>
          </p:cNvPr>
          <p:cNvPicPr>
            <a:picLocks noGrp="1" noChangeAspect="1"/>
          </p:cNvPicPr>
          <p:nvPr>
            <p:ph type="pic" sz="quarter" idx="11"/>
          </p:nvPr>
        </p:nvPicPr>
        <p:blipFill>
          <a:blip r:embed="rId4"/>
          <a:srcRect/>
          <a:stretch/>
        </p:blipFill>
        <p:spPr/>
      </p:pic>
      <p:pic>
        <p:nvPicPr>
          <p:cNvPr id="55" name="Picture Placeholder 54">
            <a:extLst>
              <a:ext uri="{FF2B5EF4-FFF2-40B4-BE49-F238E27FC236}">
                <a16:creationId xmlns:a16="http://schemas.microsoft.com/office/drawing/2014/main" id="{FBE14225-80F2-406E-9F56-CBFC89FC7CDF}"/>
              </a:ext>
            </a:extLst>
          </p:cNvPr>
          <p:cNvPicPr>
            <a:picLocks noGrp="1" noChangeAspect="1"/>
          </p:cNvPicPr>
          <p:nvPr>
            <p:ph type="pic" sz="quarter" idx="12"/>
          </p:nvPr>
        </p:nvPicPr>
        <p:blipFill>
          <a:blip r:embed="rId5"/>
          <a:srcRect/>
          <a:stretch/>
        </p:blipFill>
        <p:spPr/>
      </p:pic>
      <p:sp>
        <p:nvSpPr>
          <p:cNvPr id="32" name="Text Placeholder 31">
            <a:extLst>
              <a:ext uri="{FF2B5EF4-FFF2-40B4-BE49-F238E27FC236}">
                <a16:creationId xmlns:a16="http://schemas.microsoft.com/office/drawing/2014/main" id="{0788CAD0-F091-43AE-9E0B-C44D9BCFFDBD}"/>
              </a:ext>
            </a:extLst>
          </p:cNvPr>
          <p:cNvSpPr>
            <a:spLocks noGrp="1"/>
          </p:cNvSpPr>
          <p:nvPr>
            <p:ph type="body" sz="quarter" idx="17"/>
          </p:nvPr>
        </p:nvSpPr>
        <p:spPr>
          <a:xfrm>
            <a:off x="5657222" y="2774551"/>
            <a:ext cx="5969852" cy="1184500"/>
          </a:xfrm>
        </p:spPr>
        <p:txBody>
          <a:bodyPr/>
          <a:lstStyle/>
          <a:p>
            <a:r>
              <a:rPr lang="en-US" sz="1800" b="1" dirty="0"/>
              <a:t>Artificial Neural Network (ANN)</a:t>
            </a:r>
            <a:r>
              <a:rPr lang="en-US" sz="1800" dirty="0"/>
              <a:t>: Constructs a neural network with multiple layers to capture complex patterns and relationships in the data, improving predictive capability.</a:t>
            </a:r>
          </a:p>
        </p:txBody>
      </p:sp>
      <p:pic>
        <p:nvPicPr>
          <p:cNvPr id="23" name="Picture Placeholder 22" descr="Garden Tools">
            <a:extLst>
              <a:ext uri="{FF2B5EF4-FFF2-40B4-BE49-F238E27FC236}">
                <a16:creationId xmlns:a16="http://schemas.microsoft.com/office/drawing/2014/main" id="{47016B31-9AF9-4A2C-8992-088D6BE179A3}"/>
              </a:ext>
            </a:extLst>
          </p:cNvPr>
          <p:cNvPicPr>
            <a:picLocks noGrp="1" noChangeAspect="1"/>
          </p:cNvPicPr>
          <p:nvPr>
            <p:ph type="pic" sz="quarter" idx="14"/>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p:pic>
      <p:pic>
        <p:nvPicPr>
          <p:cNvPr id="50" name="Picture Placeholder 49" descr="Seed Packet">
            <a:extLst>
              <a:ext uri="{FF2B5EF4-FFF2-40B4-BE49-F238E27FC236}">
                <a16:creationId xmlns:a16="http://schemas.microsoft.com/office/drawing/2014/main" id="{BC1A8F56-CD55-494E-91FC-4D0C55EE3922}"/>
              </a:ext>
            </a:extLst>
          </p:cNvPr>
          <p:cNvPicPr>
            <a:picLocks noGrp="1" noChangeAspect="1"/>
          </p:cNvPicPr>
          <p:nvPr>
            <p:ph sz="half" idx="4294967295"/>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p:blipFill>
        <p:spPr>
          <a:xfrm>
            <a:off x="334298" y="1287322"/>
            <a:ext cx="914400" cy="914400"/>
          </a:xfrm>
        </p:spPr>
      </p:pic>
      <p:sp>
        <p:nvSpPr>
          <p:cNvPr id="6" name="Text Placeholder 5">
            <a:extLst>
              <a:ext uri="{FF2B5EF4-FFF2-40B4-BE49-F238E27FC236}">
                <a16:creationId xmlns:a16="http://schemas.microsoft.com/office/drawing/2014/main" id="{222A79B1-DFEC-45D8-C0AA-C8A72CACA3DC}"/>
              </a:ext>
            </a:extLst>
          </p:cNvPr>
          <p:cNvSpPr>
            <a:spLocks noGrp="1"/>
          </p:cNvSpPr>
          <p:nvPr>
            <p:ph type="body" sz="quarter" idx="15"/>
          </p:nvPr>
        </p:nvSpPr>
        <p:spPr>
          <a:xfrm>
            <a:off x="5657222" y="299323"/>
            <a:ext cx="6082494" cy="914400"/>
          </a:xfrm>
        </p:spPr>
        <p:txBody>
          <a:bodyPr/>
          <a:lstStyle/>
          <a:p>
            <a:r>
              <a:rPr lang="en-US" sz="1800" b="1" dirty="0" err="1"/>
              <a:t>XGBoost</a:t>
            </a:r>
            <a:r>
              <a:rPr lang="en-US" sz="1800" b="1" dirty="0"/>
              <a:t> Regressor</a:t>
            </a:r>
            <a:r>
              <a:rPr lang="en-US" sz="1800" dirty="0"/>
              <a:t>: Utilizes gradient boosting to build a series of models that correct the errors of previous ones, often yielding high performance in predictions.</a:t>
            </a:r>
            <a:endParaRPr lang="en-IN" sz="1800" dirty="0"/>
          </a:p>
        </p:txBody>
      </p:sp>
      <p:sp>
        <p:nvSpPr>
          <p:cNvPr id="13" name="Text Placeholder 12">
            <a:extLst>
              <a:ext uri="{FF2B5EF4-FFF2-40B4-BE49-F238E27FC236}">
                <a16:creationId xmlns:a16="http://schemas.microsoft.com/office/drawing/2014/main" id="{7BBD9DA1-FF88-F29B-2E51-D9DA7A7D801C}"/>
              </a:ext>
            </a:extLst>
          </p:cNvPr>
          <p:cNvSpPr>
            <a:spLocks noGrp="1"/>
          </p:cNvSpPr>
          <p:nvPr>
            <p:ph type="body" sz="quarter" idx="16"/>
          </p:nvPr>
        </p:nvSpPr>
        <p:spPr>
          <a:xfrm>
            <a:off x="5713543" y="1575358"/>
            <a:ext cx="5969852" cy="914400"/>
          </a:xfrm>
        </p:spPr>
        <p:txBody>
          <a:bodyPr/>
          <a:lstStyle/>
          <a:p>
            <a:r>
              <a:rPr lang="en-US" sz="1800" b="1" dirty="0"/>
              <a:t>Hyperparameter Tuning</a:t>
            </a:r>
            <a:r>
              <a:rPr lang="en-US" sz="1800" dirty="0"/>
              <a:t>: Optimizes model parameters (e.g., tree depth, learning rate) to enhance performance and accuracy.</a:t>
            </a:r>
            <a:endParaRPr lang="en-IN" sz="1800" dirty="0"/>
          </a:p>
        </p:txBody>
      </p:sp>
      <p:sp>
        <p:nvSpPr>
          <p:cNvPr id="11" name="Rectangle 10">
            <a:extLst>
              <a:ext uri="{FF2B5EF4-FFF2-40B4-BE49-F238E27FC236}">
                <a16:creationId xmlns:a16="http://schemas.microsoft.com/office/drawing/2014/main" id="{2EBF8194-F952-34A0-2E2F-8337D80E4B1B}"/>
              </a:ext>
            </a:extLst>
          </p:cNvPr>
          <p:cNvSpPr/>
          <p:nvPr/>
        </p:nvSpPr>
        <p:spPr>
          <a:xfrm>
            <a:off x="2727796" y="4124960"/>
            <a:ext cx="9088284" cy="2363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j-lt"/>
              </a:rPr>
              <a:t>Each model and technique contributes differently to improving AQI prediction accuracy and understanding the factors influencing air quality.</a:t>
            </a:r>
            <a:endParaRPr lang="en-IN" dirty="0">
              <a:solidFill>
                <a:schemeClr val="tx1"/>
              </a:solidFill>
              <a:latin typeface="+mj-lt"/>
            </a:endParaRPr>
          </a:p>
        </p:txBody>
      </p:sp>
    </p:spTree>
    <p:extLst>
      <p:ext uri="{BB962C8B-B14F-4D97-AF65-F5344CB8AC3E}">
        <p14:creationId xmlns:p14="http://schemas.microsoft.com/office/powerpoint/2010/main" val="217058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wipe(down)">
                                      <p:cBhvr>
                                        <p:cTn id="14" dur="500"/>
                                        <p:tgtEl>
                                          <p:spTgt spid="52"/>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1000"/>
                                        <p:tgtEl>
                                          <p:spTgt spid="6">
                                            <p:txEl>
                                              <p:pRg st="0" end="0"/>
                                            </p:txEl>
                                          </p:spTgt>
                                        </p:tgtEl>
                                      </p:cBhvr>
                                    </p:animEffect>
                                    <p:anim calcmode="lin" valueType="num">
                                      <p:cBhvr>
                                        <p:cTn id="1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wipe(down)">
                                      <p:cBhvr>
                                        <p:cTn id="24" dur="500"/>
                                        <p:tgtEl>
                                          <p:spTgt spid="5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1000"/>
                                        <p:tgtEl>
                                          <p:spTgt spid="13">
                                            <p:txEl>
                                              <p:pRg st="0" end="0"/>
                                            </p:txEl>
                                          </p:spTgt>
                                        </p:tgtEl>
                                      </p:cBhvr>
                                    </p:animEffect>
                                    <p:anim calcmode="lin" valueType="num">
                                      <p:cBhvr>
                                        <p:cTn id="2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wipe(down)">
                                      <p:cBhvr>
                                        <p:cTn id="34" dur="500"/>
                                        <p:tgtEl>
                                          <p:spTgt spid="55"/>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32">
                                            <p:txEl>
                                              <p:pRg st="0" end="0"/>
                                            </p:txEl>
                                          </p:spTgt>
                                        </p:tgtEl>
                                        <p:attrNameLst>
                                          <p:attrName>style.visibility</p:attrName>
                                        </p:attrNameLst>
                                      </p:cBhvr>
                                      <p:to>
                                        <p:strVal val="visible"/>
                                      </p:to>
                                    </p:set>
                                    <p:animEffect transition="in" filter="fade">
                                      <p:cBhvr>
                                        <p:cTn id="37" dur="1000"/>
                                        <p:tgtEl>
                                          <p:spTgt spid="32">
                                            <p:txEl>
                                              <p:pRg st="0" end="0"/>
                                            </p:txEl>
                                          </p:spTgt>
                                        </p:tgtEl>
                                      </p:cBhvr>
                                    </p:animEffect>
                                    <p:anim calcmode="lin" valueType="num">
                                      <p:cBhvr>
                                        <p:cTn id="38" dur="1000" fill="hold"/>
                                        <p:tgtEl>
                                          <p:spTgt spid="32">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32">
                                            <p:txEl>
                                              <p:pRg st="0" end="0"/>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Effect transition="in" filter="fade">
                                      <p:cBhvr>
                                        <p:cTn id="42" dur="1000"/>
                                        <p:tgtEl>
                                          <p:spTgt spid="11">
                                            <p:txEl>
                                              <p:pRg st="0" end="0"/>
                                            </p:txEl>
                                          </p:spTgt>
                                        </p:tgtEl>
                                      </p:cBhvr>
                                    </p:animEffect>
                                    <p:anim calcmode="lin" valueType="num">
                                      <p:cBhvr>
                                        <p:cTn id="43"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2" grpId="0" build="p"/>
      <p:bldP spid="6" grpId="0" build="p"/>
      <p:bldP spid="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199"/>
            <a:ext cx="11565636" cy="2056675"/>
          </a:xfrm>
        </p:spPr>
        <p:txBody>
          <a:bodyPr/>
          <a:lstStyle/>
          <a:p>
            <a:r>
              <a:rPr lang="en-IN" sz="3200" dirty="0"/>
              <a:t>Model Evaluation &amp; Feature Importance</a:t>
            </a:r>
            <a:br>
              <a:rPr lang="en-US" dirty="0"/>
            </a:br>
            <a:r>
              <a:rPr lang="en-IN"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Model Evaluation &amp;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Freature</a:t>
            </a:r>
            <a:r>
              <a:rPr lang="en-US" sz="2000" dirty="0">
                <a:latin typeface="Calibri Light" panose="020F0302020204030204" pitchFamily="34" charset="0"/>
                <a:ea typeface="Calibri Light" panose="020F0302020204030204" pitchFamily="34" charset="0"/>
                <a:cs typeface="Calibri Light" panose="020F0302020204030204" pitchFamily="34" charset="0"/>
              </a:rPr>
              <a:t> selection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378460" y="4019516"/>
            <a:ext cx="2585943" cy="613444"/>
          </a:xfrm>
        </p:spPr>
        <p:txBody>
          <a:bodyPr/>
          <a:lstStyle/>
          <a:p>
            <a:r>
              <a:rPr lang="en-IN" dirty="0"/>
              <a:t>Mean Absolute Error (MAE)</a:t>
            </a:r>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613444"/>
          </a:xfrm>
        </p:spPr>
        <p:txBody>
          <a:bodyPr/>
          <a:lstStyle/>
          <a:p>
            <a:r>
              <a:rPr lang="en-IN" dirty="0"/>
              <a:t>Mean Squared Error (MSE)</a:t>
            </a:r>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53243" y="2555240"/>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324611"/>
          </a:xfrm>
        </p:spPr>
        <p:txBody>
          <a:bodyPr/>
          <a:lstStyle/>
          <a:p>
            <a:r>
              <a:rPr lang="en-IN" dirty="0"/>
              <a:t>R-squared</a:t>
            </a:r>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3923352"/>
            <a:ext cx="2585943" cy="889000"/>
          </a:xfrm>
        </p:spPr>
        <p:txBody>
          <a:bodyPr/>
          <a:lstStyle/>
          <a:p>
            <a:r>
              <a:rPr lang="en-IN" dirty="0"/>
              <a:t>Identifying Key Variables &amp; Ranking Features</a:t>
            </a:r>
          </a:p>
          <a:p>
            <a:endParaRPr lang="en-US" dirty="0"/>
          </a:p>
        </p:txBody>
      </p:sp>
      <p:sp>
        <p:nvSpPr>
          <p:cNvPr id="16" name="TextBox 15">
            <a:extLst>
              <a:ext uri="{FF2B5EF4-FFF2-40B4-BE49-F238E27FC236}">
                <a16:creationId xmlns:a16="http://schemas.microsoft.com/office/drawing/2014/main" id="{3FCD2C2C-7853-D730-C91B-0EF69F623C2D}"/>
              </a:ext>
            </a:extLst>
          </p:cNvPr>
          <p:cNvSpPr txBox="1"/>
          <p:nvPr/>
        </p:nvSpPr>
        <p:spPr>
          <a:xfrm>
            <a:off x="378460" y="4674911"/>
            <a:ext cx="2212340" cy="1754326"/>
          </a:xfrm>
          <a:prstGeom prst="rect">
            <a:avLst/>
          </a:prstGeom>
          <a:noFill/>
        </p:spPr>
        <p:txBody>
          <a:bodyPr wrap="square">
            <a:spAutoFit/>
          </a:bodyPr>
          <a:lstStyle/>
          <a:p>
            <a:r>
              <a:rPr lang="en-US" dirty="0"/>
              <a:t>Measures the average magnitude of errors in predictions, providing an easy-to-understand metric of model accuracy.</a:t>
            </a:r>
            <a:endParaRPr lang="en-IN" dirty="0"/>
          </a:p>
        </p:txBody>
      </p:sp>
      <p:sp>
        <p:nvSpPr>
          <p:cNvPr id="22" name="TextBox 21">
            <a:extLst>
              <a:ext uri="{FF2B5EF4-FFF2-40B4-BE49-F238E27FC236}">
                <a16:creationId xmlns:a16="http://schemas.microsoft.com/office/drawing/2014/main" id="{DFFC36F0-CBDF-5E6E-BAAA-FDE96C0DBCA9}"/>
              </a:ext>
            </a:extLst>
          </p:cNvPr>
          <p:cNvSpPr txBox="1"/>
          <p:nvPr/>
        </p:nvSpPr>
        <p:spPr>
          <a:xfrm>
            <a:off x="2926852" y="4650155"/>
            <a:ext cx="3067548" cy="1200329"/>
          </a:xfrm>
          <a:prstGeom prst="rect">
            <a:avLst/>
          </a:prstGeom>
          <a:noFill/>
        </p:spPr>
        <p:txBody>
          <a:bodyPr wrap="square">
            <a:spAutoFit/>
          </a:bodyPr>
          <a:lstStyle/>
          <a:p>
            <a:r>
              <a:rPr lang="en-US" dirty="0"/>
              <a:t>Assesses the average squared difference between predicted and actual values, highlighting larger errors more significantly.</a:t>
            </a:r>
            <a:endParaRPr lang="en-IN" dirty="0"/>
          </a:p>
        </p:txBody>
      </p:sp>
      <p:sp>
        <p:nvSpPr>
          <p:cNvPr id="25" name="TextBox 24">
            <a:extLst>
              <a:ext uri="{FF2B5EF4-FFF2-40B4-BE49-F238E27FC236}">
                <a16:creationId xmlns:a16="http://schemas.microsoft.com/office/drawing/2014/main" id="{AFB714B9-4125-FC3A-B927-6605DEBCD88E}"/>
              </a:ext>
            </a:extLst>
          </p:cNvPr>
          <p:cNvSpPr txBox="1"/>
          <p:nvPr/>
        </p:nvSpPr>
        <p:spPr>
          <a:xfrm>
            <a:off x="5994400" y="4650155"/>
            <a:ext cx="2917687" cy="1754326"/>
          </a:xfrm>
          <a:prstGeom prst="rect">
            <a:avLst/>
          </a:prstGeom>
          <a:noFill/>
        </p:spPr>
        <p:txBody>
          <a:bodyPr wrap="square">
            <a:spAutoFit/>
          </a:bodyPr>
          <a:lstStyle/>
          <a:p>
            <a:r>
              <a:rPr lang="en-US" dirty="0"/>
              <a:t>Indicates the proportion of variance in the dependent variable that is predictable from the independent variables, showing how well the model fits the data.</a:t>
            </a:r>
            <a:endParaRPr lang="en-IN" dirty="0"/>
          </a:p>
        </p:txBody>
      </p:sp>
      <p:sp>
        <p:nvSpPr>
          <p:cNvPr id="27" name="TextBox 26">
            <a:extLst>
              <a:ext uri="{FF2B5EF4-FFF2-40B4-BE49-F238E27FC236}">
                <a16:creationId xmlns:a16="http://schemas.microsoft.com/office/drawing/2014/main" id="{0E0112A3-40DF-C6CA-B91E-735E85D34DD3}"/>
              </a:ext>
            </a:extLst>
          </p:cNvPr>
          <p:cNvSpPr txBox="1"/>
          <p:nvPr/>
        </p:nvSpPr>
        <p:spPr>
          <a:xfrm>
            <a:off x="9398000" y="4812352"/>
            <a:ext cx="2585943" cy="1754326"/>
          </a:xfrm>
          <a:prstGeom prst="rect">
            <a:avLst/>
          </a:prstGeom>
          <a:noFill/>
        </p:spPr>
        <p:txBody>
          <a:bodyPr wrap="square">
            <a:spAutoFit/>
          </a:bodyPr>
          <a:lstStyle/>
          <a:p>
            <a:r>
              <a:rPr lang="en-US" dirty="0"/>
              <a:t>Understanding Evaluates which features (e.g., pollutants, weather conditions) have the most significant impact on AQI prediction.</a:t>
            </a:r>
            <a:endParaRPr lang="en-IN" dirty="0"/>
          </a:p>
        </p:txBody>
      </p:sp>
    </p:spTree>
    <p:extLst>
      <p:ext uri="{BB962C8B-B14F-4D97-AF65-F5344CB8AC3E}">
        <p14:creationId xmlns:p14="http://schemas.microsoft.com/office/powerpoint/2010/main" val="194993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1000"/>
                                        <p:tgtEl>
                                          <p:spTgt spid="19">
                                            <p:txEl>
                                              <p:pRg st="0" end="0"/>
                                            </p:txEl>
                                          </p:spTgt>
                                        </p:tgtEl>
                                      </p:cBhvr>
                                    </p:animEffect>
                                    <p:anim calcmode="lin" valueType="num">
                                      <p:cBhvr>
                                        <p:cTn id="3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down)">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Effect transition="in" filter="fade">
                                      <p:cBhvr>
                                        <p:cTn id="47" dur="1000"/>
                                        <p:tgtEl>
                                          <p:spTgt spid="20">
                                            <p:txEl>
                                              <p:pRg st="0" end="0"/>
                                            </p:txEl>
                                          </p:spTgt>
                                        </p:tgtEl>
                                      </p:cBhvr>
                                    </p:animEffect>
                                    <p:anim calcmode="lin" valueType="num">
                                      <p:cBhvr>
                                        <p:cTn id="4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5">
                                            <p:txEl>
                                              <p:pRg st="0" end="0"/>
                                            </p:txEl>
                                          </p:spTgt>
                                        </p:tgtEl>
                                        <p:attrNameLst>
                                          <p:attrName>style.visibility</p:attrName>
                                        </p:attrNameLst>
                                      </p:cBhvr>
                                      <p:to>
                                        <p:strVal val="visible"/>
                                      </p:to>
                                    </p:set>
                                    <p:animEffect transition="in" filter="fade">
                                      <p:cBhvr>
                                        <p:cTn id="52" dur="1000"/>
                                        <p:tgtEl>
                                          <p:spTgt spid="25">
                                            <p:txEl>
                                              <p:pRg st="0" end="0"/>
                                            </p:txEl>
                                          </p:spTgt>
                                        </p:tgtEl>
                                      </p:cBhvr>
                                    </p:animEffect>
                                    <p:anim calcmode="lin" valueType="num">
                                      <p:cBhvr>
                                        <p:cTn id="53"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down)">
                                      <p:cBhvr>
                                        <p:cTn id="59" dur="500"/>
                                        <p:tgtEl>
                                          <p:spTgt spid="41"/>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1000"/>
                                        <p:tgtEl>
                                          <p:spTgt spid="21">
                                            <p:txEl>
                                              <p:pRg st="0" end="0"/>
                                            </p:txEl>
                                          </p:spTgt>
                                        </p:tgtEl>
                                      </p:cBhvr>
                                    </p:animEffect>
                                    <p:anim calcmode="lin" valueType="num">
                                      <p:cBhvr>
                                        <p:cTn id="6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9" grpId="0" build="p"/>
      <p:bldP spid="20" grpId="0" build="p"/>
      <p:bldP spid="21" grpId="0" build="p"/>
      <p:bldP spid="16" grpId="0"/>
      <p:bldP spid="22"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758736-56D9-CB6E-006A-FBF3F33D7462}"/>
              </a:ext>
            </a:extLst>
          </p:cNvPr>
          <p:cNvSpPr txBox="1"/>
          <p:nvPr/>
        </p:nvSpPr>
        <p:spPr>
          <a:xfrm>
            <a:off x="1179869" y="1059817"/>
            <a:ext cx="1675091" cy="523220"/>
          </a:xfrm>
          <a:prstGeom prst="rect">
            <a:avLst/>
          </a:prstGeom>
          <a:noFill/>
        </p:spPr>
        <p:txBody>
          <a:bodyPr wrap="square" rtlCol="0">
            <a:spAutoFit/>
          </a:bodyPr>
          <a:lstStyle/>
          <a:p>
            <a:r>
              <a:rPr lang="en-IN" sz="2800" b="1" dirty="0"/>
              <a:t>Tools:</a:t>
            </a:r>
            <a:endParaRPr lang="en-IN" sz="2800" dirty="0">
              <a:latin typeface="+mj-lt"/>
            </a:endParaRPr>
          </a:p>
        </p:txBody>
      </p:sp>
      <p:sp>
        <p:nvSpPr>
          <p:cNvPr id="6" name="TextBox 5">
            <a:extLst>
              <a:ext uri="{FF2B5EF4-FFF2-40B4-BE49-F238E27FC236}">
                <a16:creationId xmlns:a16="http://schemas.microsoft.com/office/drawing/2014/main" id="{7F9F91A8-041E-7CC3-6C95-E9BF1E79E986}"/>
              </a:ext>
            </a:extLst>
          </p:cNvPr>
          <p:cNvSpPr txBox="1"/>
          <p:nvPr/>
        </p:nvSpPr>
        <p:spPr>
          <a:xfrm>
            <a:off x="1179869" y="1750921"/>
            <a:ext cx="9843731" cy="3785652"/>
          </a:xfrm>
          <a:prstGeom prst="rect">
            <a:avLst/>
          </a:prstGeom>
          <a:noFill/>
        </p:spPr>
        <p:txBody>
          <a:bodyPr wrap="square">
            <a:spAutoFit/>
          </a:bodyPr>
          <a:lstStyle/>
          <a:p>
            <a:r>
              <a:rPr lang="en-IN" sz="2000" dirty="0"/>
              <a:t>To successfully implement the project, the following tools and libraries will be used:</a:t>
            </a:r>
          </a:p>
          <a:p>
            <a:endParaRPr lang="en-IN" sz="2000" dirty="0"/>
          </a:p>
          <a:p>
            <a:pPr>
              <a:buFont typeface="Arial" panose="020B0604020202020204" pitchFamily="34" charset="0"/>
              <a:buChar char="•"/>
            </a:pPr>
            <a:r>
              <a:rPr lang="en-IN" sz="2000" b="1" dirty="0"/>
              <a:t>Programming Language</a:t>
            </a:r>
            <a:r>
              <a:rPr lang="en-IN" sz="2000" dirty="0"/>
              <a:t>: Python </a:t>
            </a:r>
          </a:p>
          <a:p>
            <a:pPr>
              <a:buFont typeface="Arial" panose="020B0604020202020204" pitchFamily="34" charset="0"/>
              <a:buChar char="•"/>
            </a:pPr>
            <a:r>
              <a:rPr lang="en-IN" sz="2000" b="1" dirty="0"/>
              <a:t>Data Handling</a:t>
            </a:r>
            <a:r>
              <a:rPr lang="en-IN" sz="2000" dirty="0"/>
              <a:t>: Pandas                     , NumPy</a:t>
            </a:r>
          </a:p>
          <a:p>
            <a:endParaRPr lang="en-IN" sz="2000" dirty="0"/>
          </a:p>
          <a:p>
            <a:pPr>
              <a:buFont typeface="Arial" panose="020B0604020202020204" pitchFamily="34" charset="0"/>
              <a:buChar char="•"/>
            </a:pPr>
            <a:r>
              <a:rPr lang="en-IN" sz="2000" b="1" dirty="0"/>
              <a:t>Data Visualization</a:t>
            </a:r>
            <a:r>
              <a:rPr lang="en-IN" sz="2000" dirty="0"/>
              <a:t>:</a:t>
            </a:r>
          </a:p>
          <a:p>
            <a:pPr>
              <a:buFont typeface="Arial" panose="020B0604020202020204" pitchFamily="34" charset="0"/>
              <a:buChar char="•"/>
            </a:pPr>
            <a:endParaRPr lang="en-IN" sz="2000" dirty="0"/>
          </a:p>
          <a:p>
            <a:pPr>
              <a:buFont typeface="Arial" panose="020B0604020202020204" pitchFamily="34" charset="0"/>
              <a:buChar char="•"/>
            </a:pPr>
            <a:r>
              <a:rPr lang="en-IN" sz="2000" b="1" dirty="0"/>
              <a:t>Machine Learning Libraries</a:t>
            </a:r>
            <a:r>
              <a:rPr lang="en-IN" sz="2000" dirty="0"/>
              <a:t>: Scikit-learn                    , </a:t>
            </a:r>
            <a:r>
              <a:rPr lang="en-IN" sz="2000" dirty="0" err="1"/>
              <a:t>XGBoost</a:t>
            </a:r>
            <a:r>
              <a:rPr lang="en-IN" sz="2000" dirty="0"/>
              <a:t> ,                                                  for ANN</a:t>
            </a:r>
          </a:p>
          <a:p>
            <a:endParaRPr lang="en-IN" sz="2000" dirty="0"/>
          </a:p>
          <a:p>
            <a:pPr>
              <a:buFont typeface="Arial" panose="020B0604020202020204" pitchFamily="34" charset="0"/>
              <a:buChar char="•"/>
            </a:pPr>
            <a:r>
              <a:rPr lang="en-IN" sz="2000" b="1" dirty="0"/>
              <a:t>Model Evaluation</a:t>
            </a:r>
            <a:r>
              <a:rPr lang="en-IN" sz="2000" dirty="0"/>
              <a:t>: Scikit-learn, </a:t>
            </a:r>
            <a:r>
              <a:rPr lang="en-IN" sz="2000" dirty="0" err="1"/>
              <a:t>Hyperopt</a:t>
            </a:r>
            <a:r>
              <a:rPr lang="en-IN" sz="2000" dirty="0"/>
              <a:t> (for tuning)</a:t>
            </a:r>
          </a:p>
          <a:p>
            <a:endParaRPr lang="en-IN" sz="2000" dirty="0"/>
          </a:p>
          <a:p>
            <a:pPr>
              <a:buFont typeface="Arial" panose="020B0604020202020204" pitchFamily="34" charset="0"/>
              <a:buChar char="•"/>
            </a:pPr>
            <a:r>
              <a:rPr lang="en-IN" sz="2000" b="1" dirty="0"/>
              <a:t>Data Source</a:t>
            </a:r>
            <a:r>
              <a:rPr lang="en-IN" sz="2000" dirty="0"/>
              <a:t>: Central Pollution Control Board (CPCB)</a:t>
            </a:r>
          </a:p>
        </p:txBody>
      </p:sp>
      <p:pic>
        <p:nvPicPr>
          <p:cNvPr id="8" name="Picture 7">
            <a:extLst>
              <a:ext uri="{FF2B5EF4-FFF2-40B4-BE49-F238E27FC236}">
                <a16:creationId xmlns:a16="http://schemas.microsoft.com/office/drawing/2014/main" id="{853B5D89-0E99-D150-4CDC-D8144DF95FFD}"/>
              </a:ext>
            </a:extLst>
          </p:cNvPr>
          <p:cNvPicPr>
            <a:picLocks noChangeAspect="1"/>
          </p:cNvPicPr>
          <p:nvPr/>
        </p:nvPicPr>
        <p:blipFill>
          <a:blip r:embed="rId2"/>
          <a:stretch>
            <a:fillRect/>
          </a:stretch>
        </p:blipFill>
        <p:spPr>
          <a:xfrm>
            <a:off x="4336237" y="2441397"/>
            <a:ext cx="289255" cy="289255"/>
          </a:xfrm>
          <a:prstGeom prst="rect">
            <a:avLst/>
          </a:prstGeom>
        </p:spPr>
      </p:pic>
      <p:pic>
        <p:nvPicPr>
          <p:cNvPr id="10" name="Graphic 9">
            <a:extLst>
              <a:ext uri="{FF2B5EF4-FFF2-40B4-BE49-F238E27FC236}">
                <a16:creationId xmlns:a16="http://schemas.microsoft.com/office/drawing/2014/main" id="{52C6315F-B97D-DBF7-10AC-1D590D546D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2785" y="2682980"/>
            <a:ext cx="1062707" cy="429495"/>
          </a:xfrm>
          <a:prstGeom prst="rect">
            <a:avLst/>
          </a:prstGeom>
        </p:spPr>
      </p:pic>
      <p:pic>
        <p:nvPicPr>
          <p:cNvPr id="12" name="Graphic 11">
            <a:extLst>
              <a:ext uri="{FF2B5EF4-FFF2-40B4-BE49-F238E27FC236}">
                <a16:creationId xmlns:a16="http://schemas.microsoft.com/office/drawing/2014/main" id="{CA4404F5-E0C1-5A69-4C75-F1BE8A23B9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2632" y="2601991"/>
            <a:ext cx="524336" cy="524336"/>
          </a:xfrm>
          <a:prstGeom prst="rect">
            <a:avLst/>
          </a:prstGeom>
        </p:spPr>
      </p:pic>
      <p:pic>
        <p:nvPicPr>
          <p:cNvPr id="14" name="Graphic 13">
            <a:extLst>
              <a:ext uri="{FF2B5EF4-FFF2-40B4-BE49-F238E27FC236}">
                <a16:creationId xmlns:a16="http://schemas.microsoft.com/office/drawing/2014/main" id="{0A239C02-5D59-9E52-C4B5-EF396669C2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01205" y="3739442"/>
            <a:ext cx="2724150" cy="609600"/>
          </a:xfrm>
          <a:prstGeom prst="rect">
            <a:avLst/>
          </a:prstGeom>
        </p:spPr>
      </p:pic>
      <p:pic>
        <p:nvPicPr>
          <p:cNvPr id="16" name="Picture 15">
            <a:extLst>
              <a:ext uri="{FF2B5EF4-FFF2-40B4-BE49-F238E27FC236}">
                <a16:creationId xmlns:a16="http://schemas.microsoft.com/office/drawing/2014/main" id="{D84B2F4A-2279-88DE-F002-F62480EA4D2D}"/>
              </a:ext>
            </a:extLst>
          </p:cNvPr>
          <p:cNvPicPr>
            <a:picLocks noChangeAspect="1"/>
          </p:cNvPicPr>
          <p:nvPr/>
        </p:nvPicPr>
        <p:blipFill>
          <a:blip r:embed="rId9"/>
          <a:stretch>
            <a:fillRect/>
          </a:stretch>
        </p:blipFill>
        <p:spPr>
          <a:xfrm>
            <a:off x="5090796" y="3866769"/>
            <a:ext cx="1059048" cy="383905"/>
          </a:xfrm>
          <a:prstGeom prst="rect">
            <a:avLst/>
          </a:prstGeom>
        </p:spPr>
      </p:pic>
      <p:pic>
        <p:nvPicPr>
          <p:cNvPr id="18" name="Graphic 17">
            <a:extLst>
              <a:ext uri="{FF2B5EF4-FFF2-40B4-BE49-F238E27FC236}">
                <a16:creationId xmlns:a16="http://schemas.microsoft.com/office/drawing/2014/main" id="{D4EFE981-5617-51BF-CBCE-1E9AA01B496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99354" y="3233215"/>
            <a:ext cx="1789567" cy="429496"/>
          </a:xfrm>
          <a:prstGeom prst="rect">
            <a:avLst/>
          </a:prstGeom>
        </p:spPr>
      </p:pic>
      <p:pic>
        <p:nvPicPr>
          <p:cNvPr id="20" name="Graphic 19">
            <a:extLst>
              <a:ext uri="{FF2B5EF4-FFF2-40B4-BE49-F238E27FC236}">
                <a16:creationId xmlns:a16="http://schemas.microsoft.com/office/drawing/2014/main" id="{7ED7D91F-FE3A-BC6F-CCC3-0C1B4B6490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36114" y="3237047"/>
            <a:ext cx="1338617" cy="383905"/>
          </a:xfrm>
          <a:prstGeom prst="rect">
            <a:avLst/>
          </a:prstGeom>
        </p:spPr>
      </p:pic>
    </p:spTree>
    <p:extLst>
      <p:ext uri="{BB962C8B-B14F-4D97-AF65-F5344CB8AC3E}">
        <p14:creationId xmlns:p14="http://schemas.microsoft.com/office/powerpoint/2010/main" val="91416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D61BAE-CE89-0655-0E4A-ACFC74B72818}"/>
              </a:ext>
            </a:extLst>
          </p:cNvPr>
          <p:cNvSpPr txBox="1"/>
          <p:nvPr/>
        </p:nvSpPr>
        <p:spPr>
          <a:xfrm>
            <a:off x="1082040" y="1767641"/>
            <a:ext cx="10027920" cy="3970318"/>
          </a:xfrm>
          <a:prstGeom prst="rect">
            <a:avLst/>
          </a:prstGeom>
          <a:noFill/>
        </p:spPr>
        <p:txBody>
          <a:bodyPr wrap="square" rtlCol="0">
            <a:spAutoFit/>
          </a:bodyPr>
          <a:lstStyle/>
          <a:p>
            <a:r>
              <a:rPr lang="en-US" dirty="0">
                <a:latin typeface="Calisto MT" panose="02040603050505030304" pitchFamily="18" charset="0"/>
              </a:rPr>
              <a:t>The expected outcome of the project is the development of a robust AQI prediction model that can forecast future air quality levels in Mumbai. The model will provide actionable insights on the severity of pollution in various regions and identify which pollutants are contributing most to air quality degradation. This tool will help policymakers, urban planners, and the Brihanmumbai Municipal Corporation (BMC) to take data-driven decisions for pollution control.</a:t>
            </a:r>
          </a:p>
          <a:p>
            <a:r>
              <a:rPr lang="en-US" dirty="0">
                <a:latin typeface="Calisto MT" panose="02040603050505030304" pitchFamily="18" charset="0"/>
              </a:rPr>
              <a:t>Additionally, by comparing various machine learning algorithms and ANN, we can determine the most effective model for AQI prediction. The integration of hyperparameter tuning will ensure that the chosen model is optimally designed for maximum accuracy.</a:t>
            </a:r>
          </a:p>
          <a:p>
            <a:endParaRPr lang="en-US" dirty="0">
              <a:latin typeface="Calisto MT" panose="02040603050505030304" pitchFamily="18" charset="0"/>
            </a:endParaRPr>
          </a:p>
          <a:p>
            <a:r>
              <a:rPr lang="en-US" b="1" dirty="0">
                <a:latin typeface="Calisto MT" panose="02040603050505030304" pitchFamily="18" charset="0"/>
              </a:rPr>
              <a:t>In conclusion</a:t>
            </a:r>
            <a:r>
              <a:rPr lang="en-US" dirty="0">
                <a:latin typeface="Calisto MT" panose="02040603050505030304" pitchFamily="18" charset="0"/>
              </a:rPr>
              <a:t>, this project aims to provide a valuable contribution to improving Mumbai’s air quality management using data science and advanced predictive modeling techniques. By understanding the air pollution dynamics and taking early action, the project aspires to create a healthier, more sustainable urban environment for the residents of Mumbai.</a:t>
            </a:r>
          </a:p>
          <a:p>
            <a:endParaRPr lang="en-IN" dirty="0"/>
          </a:p>
        </p:txBody>
      </p:sp>
      <p:sp>
        <p:nvSpPr>
          <p:cNvPr id="4" name="TextBox 3">
            <a:extLst>
              <a:ext uri="{FF2B5EF4-FFF2-40B4-BE49-F238E27FC236}">
                <a16:creationId xmlns:a16="http://schemas.microsoft.com/office/drawing/2014/main" id="{3339BD42-2D15-4A52-7F32-D4341DFFAE3F}"/>
              </a:ext>
            </a:extLst>
          </p:cNvPr>
          <p:cNvSpPr txBox="1"/>
          <p:nvPr/>
        </p:nvSpPr>
        <p:spPr>
          <a:xfrm>
            <a:off x="1082040" y="1120041"/>
            <a:ext cx="6096000" cy="523220"/>
          </a:xfrm>
          <a:prstGeom prst="rect">
            <a:avLst/>
          </a:prstGeom>
          <a:noFill/>
        </p:spPr>
        <p:txBody>
          <a:bodyPr wrap="square">
            <a:spAutoFit/>
          </a:bodyPr>
          <a:lstStyle/>
          <a:p>
            <a:r>
              <a:rPr lang="en-IN" sz="2800" dirty="0">
                <a:latin typeface="+mj-lt"/>
              </a:rPr>
              <a:t>Results and Conclusion:</a:t>
            </a:r>
          </a:p>
        </p:txBody>
      </p:sp>
    </p:spTree>
    <p:extLst>
      <p:ext uri="{BB962C8B-B14F-4D97-AF65-F5344CB8AC3E}">
        <p14:creationId xmlns:p14="http://schemas.microsoft.com/office/powerpoint/2010/main" val="371287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FA78568-A730-4D3B-A489-FD854E91254A}">
  <ds:schemaRefs>
    <ds:schemaRef ds:uri="http://schemas.microsoft.com/sharepoint/v3/contenttype/forms"/>
  </ds:schemaRefs>
</ds:datastoreItem>
</file>

<file path=customXml/itemProps2.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{DD8DA154-4115-4649-BA61-8E031B6B7A29}tf11429527_win32</Template>
  <TotalTime>199</TotalTime>
  <Words>1366</Words>
  <Application>Microsoft Office PowerPoint</Application>
  <PresentationFormat>Widescreen</PresentationFormat>
  <Paragraphs>94</Paragraphs>
  <Slides>12</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Arial</vt:lpstr>
      <vt:lpstr>Calibri</vt:lpstr>
      <vt:lpstr>Calibri Light</vt:lpstr>
      <vt:lpstr>Calisto MT</vt:lpstr>
      <vt:lpstr>Cambria Math</vt:lpstr>
      <vt:lpstr>Century Gothic</vt:lpstr>
      <vt:lpstr>Karla</vt:lpstr>
      <vt:lpstr>Times New Roman</vt:lpstr>
      <vt:lpstr>Trebuchet MS</vt:lpstr>
      <vt:lpstr>Univers Condensed Light</vt:lpstr>
      <vt:lpstr>Office Theme</vt:lpstr>
      <vt:lpstr>PowerPoint Presentation</vt:lpstr>
      <vt:lpstr>"Predicting Mumbai’s Air Quality Index : Leveraging Machine Learning for AQI Forecasting" </vt:lpstr>
      <vt:lpstr>Objective </vt:lpstr>
      <vt:lpstr>Mumbai, the financial capital of India, is not only a hub for commerce but also one of the most densely populated cities in the world. With an estimated population of 12.5 million and a rapidly expanding urban footprint, the city faces significant environmental challenges, particularly in managing air quality. Air pollution from vehicular emissions, industrial activities, and construction has continued to get worse despite several efforts to control it.   Moreover, Mumbai has one of the busiest airports in India, attracting millions of tourists from both within the country and across the globe. Poor air quality can create a negative impression on visitors and impact the quality of life for residents. With the advent of advanced data science, this project proposes to utilize machine learning techniques to predict AQI in Mumbai. By leveraging data science, we can harness the power of predictive analytics to make the world a better place—starting with improving Mumbai's air quality. Predicting future AQI will help in early intervention, more effective pollution control, and better public health measures.  </vt:lpstr>
      <vt:lpstr>The Dataset is sourced from the Central Pollution Control Board (CPCB),  a government-managed institution that provides reliable and consistent data on air quality across India. The dataset includes various air pollutant and meteorological variables. Key variables include:  PM2.5 &amp; PM10 (µg/m³): Fine and coarse particulate matter, the primary pollutants in urban areas. NO2 (µg/m³): Nitrogen dioxide, linked to vehicular emissions. SO2 (µg/m³): Sulfur dioxide, an indicator of industrial emissions. CO (mg/m³): Carbon monoxide, produced from incomplete combustion of fuel. Ozone (µg/m³): Ground-level ozone, harmful to respiratory health. AT (°C), RH (%), WS (m/s), WD (deg): Meteorological features like air temperature, relative humidity, wind speed, and wind direction that affect pollutant dispersion.   These variables provide a comprehensive overview of air quality in Mumbai, helping the model to forecast AQI effectively.  </vt:lpstr>
      <vt:lpstr>Methodology The project will involve the following steps</vt:lpstr>
      <vt:lpstr>Data preprocessing steps:</vt:lpstr>
      <vt:lpstr>Model  Devlopment: </vt:lpstr>
      <vt:lpstr>Model  Devlopment: </vt:lpstr>
      <vt:lpstr>Model Evaluation &amp; Feature Importance  Model Evaluation &amp; Freature selection  will involve the following steps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Kumar</dc:creator>
  <cp:lastModifiedBy>Rahul Kumar</cp:lastModifiedBy>
  <cp:revision>3</cp:revision>
  <dcterms:created xsi:type="dcterms:W3CDTF">2024-09-19T00:16:47Z</dcterms:created>
  <dcterms:modified xsi:type="dcterms:W3CDTF">2024-09-19T03:36:24Z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