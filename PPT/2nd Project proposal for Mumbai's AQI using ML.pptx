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95" r:id="rId5"/>
    <p:sldId id="284" r:id="rId6"/>
    <p:sldId id="292" r:id="rId7"/>
    <p:sldId id="308" r:id="rId8"/>
    <p:sldId id="310" r:id="rId9"/>
    <p:sldId id="309" r:id="rId10"/>
    <p:sldId id="313" r:id="rId11"/>
    <p:sldId id="312" r:id="rId12"/>
    <p:sldId id="314" r:id="rId13"/>
    <p:sldId id="316" r:id="rId14"/>
    <p:sldId id="315" r:id="rId15"/>
    <p:sldId id="311" r:id="rId16"/>
    <p:sldId id="318" r:id="rId17"/>
    <p:sldId id="319" r:id="rId18"/>
    <p:sldId id="317" r:id="rId19"/>
    <p:sldId id="322" r:id="rId20"/>
    <p:sldId id="321" r:id="rId21"/>
    <p:sldId id="320" r:id="rId22"/>
    <p:sldId id="325" r:id="rId23"/>
    <p:sldId id="324" r:id="rId24"/>
    <p:sldId id="294" r:id="rId25"/>
    <p:sldId id="323" r:id="rId26"/>
    <p:sldId id="326" r:id="rId27"/>
    <p:sldId id="30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97EFD3"/>
    <a:srgbClr val="F15574"/>
    <a:srgbClr val="F4EBE8"/>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99" autoAdjust="0"/>
  </p:normalViewPr>
  <p:slideViewPr>
    <p:cSldViewPr snapToGrid="0" snapToObjects="1" showGuides="1">
      <p:cViewPr varScale="1">
        <p:scale>
          <a:sx n="75" d="100"/>
          <a:sy n="75" d="100"/>
        </p:scale>
        <p:origin x="902" y="48"/>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10/25/2024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ayout 2">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2F74C26D-17C1-BDA0-19BD-8D0D7B66B8AC}"/>
              </a:ext>
              <a:ext uri="{C183D7F6-B498-43B3-948B-1728B52AA6E4}">
                <adec:decorative xmlns:adec="http://schemas.microsoft.com/office/drawing/2017/decorative" val="1"/>
              </a:ext>
            </a:extLst>
          </p:cNvPr>
          <p:cNvGrpSpPr/>
          <p:nvPr userDrawn="1"/>
        </p:nvGrpSpPr>
        <p:grpSpPr>
          <a:xfrm>
            <a:off x="976547" y="1458965"/>
            <a:ext cx="10278189" cy="5752254"/>
            <a:chOff x="976547" y="1458965"/>
            <a:chExt cx="10278189" cy="5752254"/>
          </a:xfrm>
        </p:grpSpPr>
        <p:grpSp>
          <p:nvGrpSpPr>
            <p:cNvPr id="9" name="Group 8" descr="timeline">
              <a:extLst>
                <a:ext uri="{FF2B5EF4-FFF2-40B4-BE49-F238E27FC236}">
                  <a16:creationId xmlns:a16="http://schemas.microsoft.com/office/drawing/2014/main" id="{951A9006-1AA5-8FDD-7DF7-819B24CF74B4}"/>
                </a:ext>
              </a:extLst>
            </p:cNvPr>
            <p:cNvGrpSpPr/>
            <p:nvPr userDrawn="1"/>
          </p:nvGrpSpPr>
          <p:grpSpPr>
            <a:xfrm>
              <a:off x="976547" y="1458965"/>
              <a:ext cx="10278189" cy="5752254"/>
              <a:chOff x="976547" y="1458965"/>
              <a:chExt cx="10278189" cy="5752254"/>
            </a:xfrm>
          </p:grpSpPr>
          <p:grpSp>
            <p:nvGrpSpPr>
              <p:cNvPr id="10" name="Group 9">
                <a:extLst>
                  <a:ext uri="{FF2B5EF4-FFF2-40B4-BE49-F238E27FC236}">
                    <a16:creationId xmlns:a16="http://schemas.microsoft.com/office/drawing/2014/main" id="{ADD408A8-97F2-7E05-F618-3BB598061DEA}"/>
                  </a:ext>
                </a:extLst>
              </p:cNvPr>
              <p:cNvGrpSpPr/>
              <p:nvPr/>
            </p:nvGrpSpPr>
            <p:grpSpPr>
              <a:xfrm rot="5400000" flipH="1">
                <a:off x="9555848" y="2219844"/>
                <a:ext cx="1624126" cy="1773651"/>
                <a:chOff x="6415077" y="1171530"/>
                <a:chExt cx="1890380" cy="1890380"/>
              </a:xfrm>
            </p:grpSpPr>
            <p:sp>
              <p:nvSpPr>
                <p:cNvPr id="19" name="Arc 18">
                  <a:extLst>
                    <a:ext uri="{FF2B5EF4-FFF2-40B4-BE49-F238E27FC236}">
                      <a16:creationId xmlns:a16="http://schemas.microsoft.com/office/drawing/2014/main" id="{D77258D4-274F-76CE-B5FA-8B62FC13BF3A}"/>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Arc 19">
                  <a:extLst>
                    <a:ext uri="{FF2B5EF4-FFF2-40B4-BE49-F238E27FC236}">
                      <a16:creationId xmlns:a16="http://schemas.microsoft.com/office/drawing/2014/main" id="{ED37F8D3-A985-DE19-B607-FF73FF4E1DA1}"/>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CCA47E25-A2AE-4878-E96E-6F761C04E974}"/>
                  </a:ext>
                </a:extLst>
              </p:cNvPr>
              <p:cNvGrpSpPr/>
              <p:nvPr/>
            </p:nvGrpSpPr>
            <p:grpSpPr>
              <a:xfrm rot="16200000" flipH="1">
                <a:off x="1051310" y="3843465"/>
                <a:ext cx="1624126" cy="1773651"/>
                <a:chOff x="6415077" y="1171530"/>
                <a:chExt cx="1890380" cy="1890380"/>
              </a:xfrm>
            </p:grpSpPr>
            <p:sp>
              <p:nvSpPr>
                <p:cNvPr id="17" name="Arc 16">
                  <a:extLst>
                    <a:ext uri="{FF2B5EF4-FFF2-40B4-BE49-F238E27FC236}">
                      <a16:creationId xmlns:a16="http://schemas.microsoft.com/office/drawing/2014/main" id="{DFA60F46-4355-4061-61A1-068B43E6F976}"/>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Arc 17">
                  <a:extLst>
                    <a:ext uri="{FF2B5EF4-FFF2-40B4-BE49-F238E27FC236}">
                      <a16:creationId xmlns:a16="http://schemas.microsoft.com/office/drawing/2014/main" id="{A177BC1C-BB13-ECE7-6D9E-DB1A363D6E85}"/>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2" name="Arc 6">
                <a:extLst>
                  <a:ext uri="{FF2B5EF4-FFF2-40B4-BE49-F238E27FC236}">
                    <a16:creationId xmlns:a16="http://schemas.microsoft.com/office/drawing/2014/main" id="{8EAF3EDC-C75F-ACC6-C4FB-703F6A573A10}"/>
                  </a:ext>
                </a:extLst>
              </p:cNvPr>
              <p:cNvSpPr/>
              <p:nvPr/>
            </p:nvSpPr>
            <p:spPr>
              <a:xfrm rot="16200000" flipH="1">
                <a:off x="1705996" y="1478703"/>
                <a:ext cx="834433" cy="794957"/>
              </a:xfrm>
              <a:custGeom>
                <a:avLst/>
                <a:gdLst>
                  <a:gd name="connsiteX0" fmla="*/ 834432 w 1668865"/>
                  <a:gd name="connsiteY0" fmla="*/ 0 h 1589914"/>
                  <a:gd name="connsiteX1" fmla="*/ 1668865 w 1668865"/>
                  <a:gd name="connsiteY1" fmla="*/ 794957 h 1589914"/>
                  <a:gd name="connsiteX2" fmla="*/ 834433 w 1668865"/>
                  <a:gd name="connsiteY2" fmla="*/ 794957 h 1589914"/>
                  <a:gd name="connsiteX3" fmla="*/ 834432 w 1668865"/>
                  <a:gd name="connsiteY3" fmla="*/ 0 h 1589914"/>
                  <a:gd name="connsiteX0" fmla="*/ 834432 w 1668865"/>
                  <a:gd name="connsiteY0" fmla="*/ 0 h 1589914"/>
                  <a:gd name="connsiteX1" fmla="*/ 1668865 w 1668865"/>
                  <a:gd name="connsiteY1" fmla="*/ 794957 h 1589914"/>
                  <a:gd name="connsiteX0" fmla="*/ 0 w 834433"/>
                  <a:gd name="connsiteY0" fmla="*/ 0 h 794957"/>
                  <a:gd name="connsiteX1" fmla="*/ 834433 w 834433"/>
                  <a:gd name="connsiteY1" fmla="*/ 794957 h 794957"/>
                  <a:gd name="connsiteX2" fmla="*/ 1 w 834433"/>
                  <a:gd name="connsiteY2" fmla="*/ 794957 h 794957"/>
                  <a:gd name="connsiteX3" fmla="*/ 0 w 834433"/>
                  <a:gd name="connsiteY3" fmla="*/ 0 h 794957"/>
                  <a:gd name="connsiteX0" fmla="*/ 64295 w 834433"/>
                  <a:gd name="connsiteY0" fmla="*/ 0 h 794957"/>
                  <a:gd name="connsiteX1" fmla="*/ 834433 w 834433"/>
                  <a:gd name="connsiteY1" fmla="*/ 794957 h 794957"/>
                </a:gdLst>
                <a:ahLst/>
                <a:cxnLst>
                  <a:cxn ang="0">
                    <a:pos x="connsiteX0" y="connsiteY0"/>
                  </a:cxn>
                  <a:cxn ang="0">
                    <a:pos x="connsiteX1" y="connsiteY1"/>
                  </a:cxn>
                </a:cxnLst>
                <a:rect l="l" t="t" r="r" b="b"/>
                <a:pathLst>
                  <a:path w="834433" h="794957" stroke="0" extrusionOk="0">
                    <a:moveTo>
                      <a:pt x="0" y="0"/>
                    </a:moveTo>
                    <a:cubicBezTo>
                      <a:pt x="460845" y="0"/>
                      <a:pt x="834433" y="355914"/>
                      <a:pt x="834433" y="794957"/>
                    </a:cubicBezTo>
                    <a:lnTo>
                      <a:pt x="1" y="794957"/>
                    </a:lnTo>
                    <a:cubicBezTo>
                      <a:pt x="1" y="529971"/>
                      <a:pt x="0" y="264986"/>
                      <a:pt x="0" y="0"/>
                    </a:cubicBezTo>
                    <a:close/>
                  </a:path>
                  <a:path w="834433" h="794957" fill="none">
                    <a:moveTo>
                      <a:pt x="64295" y="0"/>
                    </a:moveTo>
                    <a:cubicBezTo>
                      <a:pt x="525140" y="0"/>
                      <a:pt x="834433" y="355914"/>
                      <a:pt x="834433" y="794957"/>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Arc 12">
                <a:extLst>
                  <a:ext uri="{FF2B5EF4-FFF2-40B4-BE49-F238E27FC236}">
                    <a16:creationId xmlns:a16="http://schemas.microsoft.com/office/drawing/2014/main" id="{B90160A2-070D-AACD-0074-4999FFF4D544}"/>
                  </a:ext>
                </a:extLst>
              </p:cNvPr>
              <p:cNvSpPr/>
              <p:nvPr/>
            </p:nvSpPr>
            <p:spPr>
              <a:xfrm rot="5400000" flipH="1">
                <a:off x="5908738" y="5581830"/>
                <a:ext cx="1668865" cy="1589914"/>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ABCB79CD-8D80-B3F8-BE1C-E874A86968E9}"/>
                  </a:ext>
                </a:extLst>
              </p:cNvPr>
              <p:cNvCxnSpPr>
                <a:cxnSpLocks/>
              </p:cNvCxnSpPr>
              <p:nvPr/>
            </p:nvCxnSpPr>
            <p:spPr>
              <a:xfrm flipH="1">
                <a:off x="2489536" y="2293398"/>
                <a:ext cx="78959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215B517-FF7C-6AAF-C73A-64C1E3D882C4}"/>
                  </a:ext>
                </a:extLst>
              </p:cNvPr>
              <p:cNvCxnSpPr>
                <a:cxnSpLocks/>
              </p:cNvCxnSpPr>
              <p:nvPr/>
            </p:nvCxnSpPr>
            <p:spPr>
              <a:xfrm flipH="1">
                <a:off x="1849703" y="3918227"/>
                <a:ext cx="85357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6ECD0F-5724-6B4D-C64B-ED19DB331BF9}"/>
                  </a:ext>
                </a:extLst>
              </p:cNvPr>
              <p:cNvCxnSpPr>
                <a:cxnSpLocks/>
                <a:stCxn id="13" idx="2"/>
              </p:cNvCxnSpPr>
              <p:nvPr/>
            </p:nvCxnSpPr>
            <p:spPr>
              <a:xfrm flipH="1" flipV="1">
                <a:off x="1849705" y="5542113"/>
                <a:ext cx="4893466" cy="2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Oval 20" descr="timeline markers">
              <a:extLst>
                <a:ext uri="{FF2B5EF4-FFF2-40B4-BE49-F238E27FC236}">
                  <a16:creationId xmlns:a16="http://schemas.microsoft.com/office/drawing/2014/main" id="{CF064689-14DA-175E-3ABE-2D82B0BBFD72}"/>
                </a:ext>
              </a:extLst>
            </p:cNvPr>
            <p:cNvSpPr/>
            <p:nvPr userDrawn="1"/>
          </p:nvSpPr>
          <p:spPr>
            <a:xfrm>
              <a:off x="1656253" y="1528909"/>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2" name="Oval 21" descr="timeline markers">
              <a:extLst>
                <a:ext uri="{FF2B5EF4-FFF2-40B4-BE49-F238E27FC236}">
                  <a16:creationId xmlns:a16="http://schemas.microsoft.com/office/drawing/2014/main" id="{880D28FE-F3D4-412B-6061-26504D1866FF}"/>
                </a:ext>
              </a:extLst>
            </p:cNvPr>
            <p:cNvSpPr/>
            <p:nvPr userDrawn="1"/>
          </p:nvSpPr>
          <p:spPr>
            <a:xfrm>
              <a:off x="7453646" y="6285904"/>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3" name="Oval 22" descr="timeline markers">
              <a:extLst>
                <a:ext uri="{FF2B5EF4-FFF2-40B4-BE49-F238E27FC236}">
                  <a16:creationId xmlns:a16="http://schemas.microsoft.com/office/drawing/2014/main" id="{F27EC31D-ECF7-2506-30B4-722935FA9D3D}"/>
                </a:ext>
              </a:extLst>
            </p:cNvPr>
            <p:cNvSpPr/>
            <p:nvPr userDrawn="1"/>
          </p:nvSpPr>
          <p:spPr>
            <a:xfrm>
              <a:off x="9081504"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4" name="Oval 23" descr="timeline markers">
              <a:extLst>
                <a:ext uri="{FF2B5EF4-FFF2-40B4-BE49-F238E27FC236}">
                  <a16:creationId xmlns:a16="http://schemas.microsoft.com/office/drawing/2014/main" id="{13B9CBFF-A217-66BA-8175-67EA0304CEC7}"/>
                </a:ext>
              </a:extLst>
            </p:cNvPr>
            <p:cNvSpPr/>
            <p:nvPr userDrawn="1"/>
          </p:nvSpPr>
          <p:spPr>
            <a:xfrm>
              <a:off x="4499321"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5" name="Oval 24" descr="timeline markers">
              <a:extLst>
                <a:ext uri="{FF2B5EF4-FFF2-40B4-BE49-F238E27FC236}">
                  <a16:creationId xmlns:a16="http://schemas.microsoft.com/office/drawing/2014/main" id="{F5F5709F-F6ED-0A7B-9226-0276EEE9CBFF}"/>
                </a:ext>
              </a:extLst>
            </p:cNvPr>
            <p:cNvSpPr/>
            <p:nvPr userDrawn="1"/>
          </p:nvSpPr>
          <p:spPr>
            <a:xfrm>
              <a:off x="2665717"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6" name="Oval 25" descr="timeline markers">
              <a:extLst>
                <a:ext uri="{FF2B5EF4-FFF2-40B4-BE49-F238E27FC236}">
                  <a16:creationId xmlns:a16="http://schemas.microsoft.com/office/drawing/2014/main" id="{B60EC174-B1E8-C2FA-5D98-5E9DAD40CAE5}"/>
                </a:ext>
              </a:extLst>
            </p:cNvPr>
            <p:cNvSpPr/>
            <p:nvPr userDrawn="1"/>
          </p:nvSpPr>
          <p:spPr>
            <a:xfrm>
              <a:off x="6884455"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grpSp>
      <p:sp>
        <p:nvSpPr>
          <p:cNvPr id="3" name="Oval 2">
            <a:extLst>
              <a:ext uri="{FF2B5EF4-FFF2-40B4-BE49-F238E27FC236}">
                <a16:creationId xmlns:a16="http://schemas.microsoft.com/office/drawing/2014/main" id="{6463361D-C127-5239-4B87-61B909E83EC0}"/>
              </a:ext>
              <a:ext uri="{C183D7F6-B498-43B3-948B-1728B52AA6E4}">
                <adec:decorative xmlns:adec="http://schemas.microsoft.com/office/drawing/2017/decorative" val="1"/>
              </a:ext>
            </a:extLst>
          </p:cNvPr>
          <p:cNvSpPr/>
          <p:nvPr userDrawn="1"/>
        </p:nvSpPr>
        <p:spPr>
          <a:xfrm>
            <a:off x="1275689" y="4286687"/>
            <a:ext cx="840963" cy="840963"/>
          </a:xfrm>
          <a:prstGeom prst="ellipse">
            <a:avLst/>
          </a:prstGeom>
          <a:solidFill>
            <a:schemeClr val="accent3">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7302EBE6-0B04-CB66-1896-3630EF8D4D12}"/>
              </a:ext>
              <a:ext uri="{C183D7F6-B498-43B3-948B-1728B52AA6E4}">
                <adec:decorative xmlns:adec="http://schemas.microsoft.com/office/drawing/2017/decorative" val="1"/>
              </a:ext>
            </a:extLst>
          </p:cNvPr>
          <p:cNvSpPr/>
          <p:nvPr userDrawn="1"/>
        </p:nvSpPr>
        <p:spPr>
          <a:xfrm>
            <a:off x="7760044" y="5740518"/>
            <a:ext cx="840963" cy="840963"/>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0C60DF9E-71C1-E217-E470-BACAC335E400}"/>
              </a:ext>
              <a:ext uri="{C183D7F6-B498-43B3-948B-1728B52AA6E4}">
                <adec:decorative xmlns:adec="http://schemas.microsoft.com/office/drawing/2017/decorative" val="1"/>
              </a:ext>
            </a:extLst>
          </p:cNvPr>
          <p:cNvSpPr/>
          <p:nvPr userDrawn="1"/>
        </p:nvSpPr>
        <p:spPr>
          <a:xfrm>
            <a:off x="3071764" y="2566758"/>
            <a:ext cx="840963" cy="840963"/>
          </a:xfrm>
          <a:prstGeom prst="ellipse">
            <a:avLst/>
          </a:prstGeom>
          <a:solidFill>
            <a:schemeClr val="accent4">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BF747FB-CC5F-D4CA-81E8-7A61F5358C61}"/>
              </a:ext>
              <a:ext uri="{C183D7F6-B498-43B3-948B-1728B52AA6E4}">
                <adec:decorative xmlns:adec="http://schemas.microsoft.com/office/drawing/2017/decorative" val="1"/>
              </a:ext>
            </a:extLst>
          </p:cNvPr>
          <p:cNvSpPr/>
          <p:nvPr userDrawn="1"/>
        </p:nvSpPr>
        <p:spPr>
          <a:xfrm>
            <a:off x="7760044" y="2566757"/>
            <a:ext cx="840963" cy="840963"/>
          </a:xfrm>
          <a:prstGeom prst="ellipse">
            <a:avLst/>
          </a:prstGeom>
          <a:solidFill>
            <a:schemeClr val="accent6">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9A95E84-9374-9712-4B91-31F479E6C74D}"/>
              </a:ext>
              <a:ext uri="{C183D7F6-B498-43B3-948B-1728B52AA6E4}">
                <adec:decorative xmlns:adec="http://schemas.microsoft.com/office/drawing/2017/decorative" val="1"/>
              </a:ext>
            </a:extLst>
          </p:cNvPr>
          <p:cNvSpPr/>
          <p:nvPr userDrawn="1"/>
        </p:nvSpPr>
        <p:spPr>
          <a:xfrm>
            <a:off x="5590723" y="4286688"/>
            <a:ext cx="840963" cy="840963"/>
          </a:xfrm>
          <a:prstGeom prst="ellipse">
            <a:avLst/>
          </a:prstGeom>
          <a:solidFill>
            <a:schemeClr val="accent1">
              <a:lumMod val="20000"/>
              <a:lumOff val="8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EBBB4CD-0B4A-786E-963D-6BB36B9E76B5}"/>
              </a:ext>
              <a:ext uri="{C183D7F6-B498-43B3-948B-1728B52AA6E4}">
                <adec:decorative xmlns:adec="http://schemas.microsoft.com/office/drawing/2017/decorative" val="1"/>
              </a:ext>
            </a:extLst>
          </p:cNvPr>
          <p:cNvSpPr/>
          <p:nvPr userDrawn="1"/>
        </p:nvSpPr>
        <p:spPr>
          <a:xfrm>
            <a:off x="1197141" y="547522"/>
            <a:ext cx="840963" cy="840963"/>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91D5DA0-8F16-4F11-8B6E-A593133FA159}"/>
              </a:ext>
            </a:extLst>
          </p:cNvPr>
          <p:cNvSpPr>
            <a:spLocks noGrp="1"/>
          </p:cNvSpPr>
          <p:nvPr>
            <p:ph type="title" hasCustomPrompt="1"/>
          </p:nvPr>
        </p:nvSpPr>
        <p:spPr>
          <a:xfrm>
            <a:off x="4916488" y="457199"/>
            <a:ext cx="6932612" cy="1465723"/>
          </a:xfrm>
        </p:spPr>
        <p:txBody>
          <a:bodyPr/>
          <a:lstStyle>
            <a:lvl1pPr algn="r">
              <a:defRPr/>
            </a:lvl1pPr>
          </a:lstStyle>
          <a:p>
            <a:r>
              <a:rPr lang="en-US" dirty="0"/>
              <a:t>Click to add title</a:t>
            </a:r>
          </a:p>
        </p:txBody>
      </p:sp>
      <p:sp>
        <p:nvSpPr>
          <p:cNvPr id="40" name="Picture Placeholder 34">
            <a:extLst>
              <a:ext uri="{FF2B5EF4-FFF2-40B4-BE49-F238E27FC236}">
                <a16:creationId xmlns:a16="http://schemas.microsoft.com/office/drawing/2014/main" id="{EA10837A-18D5-41DD-A066-A079A09D86A7}"/>
              </a:ext>
            </a:extLst>
          </p:cNvPr>
          <p:cNvSpPr>
            <a:spLocks noGrp="1"/>
          </p:cNvSpPr>
          <p:nvPr>
            <p:ph type="pic" sz="quarter" idx="24"/>
          </p:nvPr>
        </p:nvSpPr>
        <p:spPr>
          <a:xfrm>
            <a:off x="1420935" y="466999"/>
            <a:ext cx="887413" cy="889000"/>
          </a:xfrm>
        </p:spPr>
        <p:txBody>
          <a:bodyPr>
            <a:normAutofit/>
          </a:bodyPr>
          <a:lstStyle>
            <a:lvl1pPr marL="0" indent="0" algn="ctr">
              <a:buNone/>
              <a:defRPr sz="900"/>
            </a:lvl1pPr>
          </a:lstStyle>
          <a:p>
            <a:r>
              <a:rPr lang="en-US"/>
              <a:t>Click icon to add picture</a:t>
            </a:r>
            <a:endParaRPr lang="en-US" dirty="0"/>
          </a:p>
        </p:txBody>
      </p:sp>
      <p:sp>
        <p:nvSpPr>
          <p:cNvPr id="42" name="Text Placeholder 46">
            <a:extLst>
              <a:ext uri="{FF2B5EF4-FFF2-40B4-BE49-F238E27FC236}">
                <a16:creationId xmlns:a16="http://schemas.microsoft.com/office/drawing/2014/main" id="{DF68D5C6-4D23-4113-9FFA-AFAAB5A6DA01}"/>
              </a:ext>
            </a:extLst>
          </p:cNvPr>
          <p:cNvSpPr>
            <a:spLocks noGrp="1"/>
          </p:cNvSpPr>
          <p:nvPr>
            <p:ph type="body" sz="quarter" idx="39" hasCustomPrompt="1"/>
          </p:nvPr>
        </p:nvSpPr>
        <p:spPr>
          <a:xfrm>
            <a:off x="2408126" y="52731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1" name="Text Placeholder 39">
            <a:extLst>
              <a:ext uri="{FF2B5EF4-FFF2-40B4-BE49-F238E27FC236}">
                <a16:creationId xmlns:a16="http://schemas.microsoft.com/office/drawing/2014/main" id="{FD8132DE-D62C-4410-983C-9F458DCEF6DE}"/>
              </a:ext>
            </a:extLst>
          </p:cNvPr>
          <p:cNvSpPr>
            <a:spLocks noGrp="1"/>
          </p:cNvSpPr>
          <p:nvPr>
            <p:ph type="body" sz="quarter" idx="38" hasCustomPrompt="1"/>
          </p:nvPr>
        </p:nvSpPr>
        <p:spPr>
          <a:xfrm>
            <a:off x="2408126" y="93025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48" name="Picture Placeholder 34">
            <a:extLst>
              <a:ext uri="{FF2B5EF4-FFF2-40B4-BE49-F238E27FC236}">
                <a16:creationId xmlns:a16="http://schemas.microsoft.com/office/drawing/2014/main" id="{2B75D755-4972-4E8B-ACD5-FAE778A86273}"/>
              </a:ext>
            </a:extLst>
          </p:cNvPr>
          <p:cNvSpPr>
            <a:spLocks noGrp="1"/>
          </p:cNvSpPr>
          <p:nvPr>
            <p:ph type="pic" sz="quarter" idx="40"/>
          </p:nvPr>
        </p:nvSpPr>
        <p:spPr>
          <a:xfrm>
            <a:off x="3458965"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id="{91051322-19B5-41CA-BEAB-A8F1B8CA54ED}"/>
              </a:ext>
            </a:extLst>
          </p:cNvPr>
          <p:cNvSpPr>
            <a:spLocks noGrp="1"/>
          </p:cNvSpPr>
          <p:nvPr>
            <p:ph type="body" sz="quarter" idx="42" hasCustomPrompt="1"/>
          </p:nvPr>
        </p:nvSpPr>
        <p:spPr>
          <a:xfrm>
            <a:off x="4446156"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9" name="Text Placeholder 39">
            <a:extLst>
              <a:ext uri="{FF2B5EF4-FFF2-40B4-BE49-F238E27FC236}">
                <a16:creationId xmlns:a16="http://schemas.microsoft.com/office/drawing/2014/main" id="{0EEE7EDE-175B-450F-B4D2-50D992E53C5E}"/>
              </a:ext>
            </a:extLst>
          </p:cNvPr>
          <p:cNvSpPr>
            <a:spLocks noGrp="1"/>
          </p:cNvSpPr>
          <p:nvPr>
            <p:ph type="body" sz="quarter" idx="41" hasCustomPrompt="1"/>
          </p:nvPr>
        </p:nvSpPr>
        <p:spPr>
          <a:xfrm>
            <a:off x="4446156"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1" name="Picture Placeholder 34">
            <a:extLst>
              <a:ext uri="{FF2B5EF4-FFF2-40B4-BE49-F238E27FC236}">
                <a16:creationId xmlns:a16="http://schemas.microsoft.com/office/drawing/2014/main" id="{966FF594-D5D5-4FD4-A245-AAF0D053095E}"/>
              </a:ext>
            </a:extLst>
          </p:cNvPr>
          <p:cNvSpPr>
            <a:spLocks noGrp="1"/>
          </p:cNvSpPr>
          <p:nvPr>
            <p:ph type="pic" sz="quarter" idx="43"/>
          </p:nvPr>
        </p:nvSpPr>
        <p:spPr>
          <a:xfrm>
            <a:off x="8030968"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6" name="Text Placeholder 46">
            <a:extLst>
              <a:ext uri="{FF2B5EF4-FFF2-40B4-BE49-F238E27FC236}">
                <a16:creationId xmlns:a16="http://schemas.microsoft.com/office/drawing/2014/main" id="{D8A4734F-8867-4923-806F-AE04360B226B}"/>
              </a:ext>
            </a:extLst>
          </p:cNvPr>
          <p:cNvSpPr>
            <a:spLocks noGrp="1"/>
          </p:cNvSpPr>
          <p:nvPr>
            <p:ph type="body" sz="quarter" idx="45" hasCustomPrompt="1"/>
          </p:nvPr>
        </p:nvSpPr>
        <p:spPr>
          <a:xfrm>
            <a:off x="9018159"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5" name="Text Placeholder 39">
            <a:extLst>
              <a:ext uri="{FF2B5EF4-FFF2-40B4-BE49-F238E27FC236}">
                <a16:creationId xmlns:a16="http://schemas.microsoft.com/office/drawing/2014/main" id="{3A5DD9C2-78E8-4416-B2C1-F07A9E25832F}"/>
              </a:ext>
            </a:extLst>
          </p:cNvPr>
          <p:cNvSpPr>
            <a:spLocks noGrp="1"/>
          </p:cNvSpPr>
          <p:nvPr>
            <p:ph type="body" sz="quarter" idx="44" hasCustomPrompt="1"/>
          </p:nvPr>
        </p:nvSpPr>
        <p:spPr>
          <a:xfrm>
            <a:off x="9018159"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7" name="Picture Placeholder 34">
            <a:extLst>
              <a:ext uri="{FF2B5EF4-FFF2-40B4-BE49-F238E27FC236}">
                <a16:creationId xmlns:a16="http://schemas.microsoft.com/office/drawing/2014/main" id="{B03F66BE-0084-45A8-85FC-1448DEA89D7E}"/>
              </a:ext>
            </a:extLst>
          </p:cNvPr>
          <p:cNvSpPr>
            <a:spLocks noGrp="1"/>
          </p:cNvSpPr>
          <p:nvPr>
            <p:ph type="pic" sz="quarter" idx="46"/>
          </p:nvPr>
        </p:nvSpPr>
        <p:spPr>
          <a:xfrm>
            <a:off x="1586860"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1" name="Text Placeholder 46">
            <a:extLst>
              <a:ext uri="{FF2B5EF4-FFF2-40B4-BE49-F238E27FC236}">
                <a16:creationId xmlns:a16="http://schemas.microsoft.com/office/drawing/2014/main" id="{DD5495C5-2CD2-4593-BC1F-CF0E7D3601E3}"/>
              </a:ext>
            </a:extLst>
          </p:cNvPr>
          <p:cNvSpPr>
            <a:spLocks noGrp="1"/>
          </p:cNvSpPr>
          <p:nvPr>
            <p:ph type="body" sz="quarter" idx="48" hasCustomPrompt="1"/>
          </p:nvPr>
        </p:nvSpPr>
        <p:spPr>
          <a:xfrm>
            <a:off x="2574051"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8" name="Text Placeholder 39">
            <a:extLst>
              <a:ext uri="{FF2B5EF4-FFF2-40B4-BE49-F238E27FC236}">
                <a16:creationId xmlns:a16="http://schemas.microsoft.com/office/drawing/2014/main" id="{3F9DA6EE-3DE6-4493-AD6B-BEC7EE858CED}"/>
              </a:ext>
            </a:extLst>
          </p:cNvPr>
          <p:cNvSpPr>
            <a:spLocks noGrp="1"/>
          </p:cNvSpPr>
          <p:nvPr>
            <p:ph type="body" sz="quarter" idx="47" hasCustomPrompt="1"/>
          </p:nvPr>
        </p:nvSpPr>
        <p:spPr>
          <a:xfrm>
            <a:off x="2574051"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2" name="Picture Placeholder 34">
            <a:extLst>
              <a:ext uri="{FF2B5EF4-FFF2-40B4-BE49-F238E27FC236}">
                <a16:creationId xmlns:a16="http://schemas.microsoft.com/office/drawing/2014/main" id="{D2B54852-DC63-410D-BE2A-4D723492843F}"/>
              </a:ext>
            </a:extLst>
          </p:cNvPr>
          <p:cNvSpPr>
            <a:spLocks noGrp="1"/>
          </p:cNvSpPr>
          <p:nvPr>
            <p:ph type="pic" sz="quarter" idx="49"/>
          </p:nvPr>
        </p:nvSpPr>
        <p:spPr>
          <a:xfrm>
            <a:off x="5818607"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4" name="Text Placeholder 46">
            <a:extLst>
              <a:ext uri="{FF2B5EF4-FFF2-40B4-BE49-F238E27FC236}">
                <a16:creationId xmlns:a16="http://schemas.microsoft.com/office/drawing/2014/main" id="{FCE91BB7-DB4C-4F95-ADC1-2757AA689645}"/>
              </a:ext>
            </a:extLst>
          </p:cNvPr>
          <p:cNvSpPr>
            <a:spLocks noGrp="1"/>
          </p:cNvSpPr>
          <p:nvPr>
            <p:ph type="body" sz="quarter" idx="51" hasCustomPrompt="1"/>
          </p:nvPr>
        </p:nvSpPr>
        <p:spPr>
          <a:xfrm>
            <a:off x="6805798"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3" name="Text Placeholder 39">
            <a:extLst>
              <a:ext uri="{FF2B5EF4-FFF2-40B4-BE49-F238E27FC236}">
                <a16:creationId xmlns:a16="http://schemas.microsoft.com/office/drawing/2014/main" id="{13567973-FE07-4747-9500-D565A3EF2869}"/>
              </a:ext>
            </a:extLst>
          </p:cNvPr>
          <p:cNvSpPr>
            <a:spLocks noGrp="1"/>
          </p:cNvSpPr>
          <p:nvPr>
            <p:ph type="body" sz="quarter" idx="50" hasCustomPrompt="1"/>
          </p:nvPr>
        </p:nvSpPr>
        <p:spPr>
          <a:xfrm>
            <a:off x="6805798"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5" name="Picture Placeholder 34">
            <a:extLst>
              <a:ext uri="{FF2B5EF4-FFF2-40B4-BE49-F238E27FC236}">
                <a16:creationId xmlns:a16="http://schemas.microsoft.com/office/drawing/2014/main" id="{7082A562-BADD-429E-BB11-8A40EE253FC4}"/>
              </a:ext>
            </a:extLst>
          </p:cNvPr>
          <p:cNvSpPr>
            <a:spLocks noGrp="1"/>
          </p:cNvSpPr>
          <p:nvPr>
            <p:ph type="pic" sz="quarter" idx="52"/>
          </p:nvPr>
        </p:nvSpPr>
        <p:spPr>
          <a:xfrm>
            <a:off x="8027987" y="5637179"/>
            <a:ext cx="887413" cy="889000"/>
          </a:xfrm>
        </p:spPr>
        <p:txBody>
          <a:bodyPr>
            <a:normAutofit/>
          </a:bodyPr>
          <a:lstStyle>
            <a:lvl1pPr marL="0" indent="0" algn="ctr">
              <a:buNone/>
              <a:defRPr sz="900"/>
            </a:lvl1pPr>
          </a:lstStyle>
          <a:p>
            <a:r>
              <a:rPr lang="en-US"/>
              <a:t>Click icon to add picture</a:t>
            </a:r>
            <a:endParaRPr lang="en-US" dirty="0"/>
          </a:p>
        </p:txBody>
      </p:sp>
      <p:sp>
        <p:nvSpPr>
          <p:cNvPr id="67" name="Text Placeholder 46">
            <a:extLst>
              <a:ext uri="{FF2B5EF4-FFF2-40B4-BE49-F238E27FC236}">
                <a16:creationId xmlns:a16="http://schemas.microsoft.com/office/drawing/2014/main" id="{67C61256-88BA-4ADF-A3CB-77D1B459CAE6}"/>
              </a:ext>
            </a:extLst>
          </p:cNvPr>
          <p:cNvSpPr>
            <a:spLocks noGrp="1"/>
          </p:cNvSpPr>
          <p:nvPr>
            <p:ph type="body" sz="quarter" idx="54" hasCustomPrompt="1"/>
          </p:nvPr>
        </p:nvSpPr>
        <p:spPr>
          <a:xfrm>
            <a:off x="9015178" y="569749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6" name="Text Placeholder 39">
            <a:extLst>
              <a:ext uri="{FF2B5EF4-FFF2-40B4-BE49-F238E27FC236}">
                <a16:creationId xmlns:a16="http://schemas.microsoft.com/office/drawing/2014/main" id="{C8F3380A-C45C-44C2-BE84-98D3DADAEDA3}"/>
              </a:ext>
            </a:extLst>
          </p:cNvPr>
          <p:cNvSpPr>
            <a:spLocks noGrp="1"/>
          </p:cNvSpPr>
          <p:nvPr>
            <p:ph type="body" sz="quarter" idx="53" hasCustomPrompt="1"/>
          </p:nvPr>
        </p:nvSpPr>
        <p:spPr>
          <a:xfrm>
            <a:off x="9015178" y="610043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Tree>
    <p:extLst>
      <p:ext uri="{BB962C8B-B14F-4D97-AF65-F5344CB8AC3E}">
        <p14:creationId xmlns:p14="http://schemas.microsoft.com/office/powerpoint/2010/main" val="3289358948"/>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72">
          <p15:clr>
            <a:srgbClr val="5ACBF0"/>
          </p15:clr>
        </p15:guide>
        <p15:guide id="6" pos="2064">
          <p15:clr>
            <a:srgbClr val="5ACBF0"/>
          </p15:clr>
        </p15:guide>
        <p15:guide id="7" pos="1776">
          <p15:clr>
            <a:srgbClr val="5ACBF0"/>
          </p15:clr>
        </p15:guide>
        <p15:guide id="8" pos="5616">
          <p15:clr>
            <a:srgbClr val="5ACBF0"/>
          </p15:clr>
        </p15:guide>
        <p15:guide id="9" pos="5928">
          <p15:clr>
            <a:srgbClr val="5ACBF0"/>
          </p15:clr>
        </p15:guide>
        <p15:guide id="10" pos="144">
          <p15:clr>
            <a:srgbClr val="5ACBF0"/>
          </p15:clr>
        </p15:guide>
        <p15:guide id="11" orient="horz" pos="4200">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 id="2147483671" r:id="rId18"/>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417B79-9D86-B65E-24D3-AA09B89B240C}"/>
              </a:ext>
            </a:extLst>
          </p:cNvPr>
          <p:cNvSpPr txBox="1"/>
          <p:nvPr/>
        </p:nvSpPr>
        <p:spPr>
          <a:xfrm>
            <a:off x="2123768" y="5071314"/>
            <a:ext cx="8267700" cy="1366977"/>
          </a:xfrm>
          <a:prstGeom prst="rect">
            <a:avLst/>
          </a:prstGeom>
          <a:noFill/>
        </p:spPr>
        <p:txBody>
          <a:bodyPr wrap="square">
            <a:spAutoFit/>
          </a:bodyPr>
          <a:lstStyle/>
          <a:p>
            <a:pPr algn="ctr">
              <a:lnSpc>
                <a:spcPct val="107000"/>
              </a:lnSpc>
              <a:spcAft>
                <a:spcPts val="800"/>
              </a:spcAft>
            </a:pP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𝕯𝖊𝖕𝖆𝖗𝖙𝖒𝖊𝖓𝖙</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𝖔𝖋</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𝕾𝖙𝖆𝖙𝖎𝖘𝖙𝖎𝖈𝖘</a:t>
            </a:r>
            <a:endParaRPr lang="en-IN" sz="1200" dirty="0">
              <a:effectLst/>
              <a:latin typeface="Trebuchet MS" panose="020B0603020202020204" pitchFamily="34" charset="0"/>
              <a:ea typeface="Trebuchet MS" panose="020B0603020202020204" pitchFamily="34" charset="0"/>
              <a:cs typeface="Times New Roman" panose="02020603050405020304" pitchFamily="18" charset="0"/>
            </a:endParaRPr>
          </a:p>
          <a:p>
            <a:pPr marL="6350" indent="-6350" algn="ctr">
              <a:lnSpc>
                <a:spcPct val="107000"/>
              </a:lnSpc>
              <a:spcAft>
                <a:spcPts val="800"/>
              </a:spcAf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SCHOOL OF MATHEMATICS, STATISTICS AND COMPUTER SCIENCE</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lnSpc>
                <a:spcPct val="107000"/>
              </a:lnSpc>
              <a:spcAft>
                <a:spcPts val="575"/>
              </a:spcAft>
            </a:pPr>
            <a:r>
              <a:rPr lang="en-GB" sz="1600" dirty="0">
                <a:effectLst/>
                <a:latin typeface="Trebuchet MS" panose="020B0603020202020204" pitchFamily="34" charset="0"/>
                <a:ea typeface="Trebuchet MS" panose="020B0603020202020204" pitchFamily="34" charset="0"/>
                <a:cs typeface="Times New Roman" panose="02020603050405020304" pitchFamily="18" charset="0"/>
              </a:rPr>
              <a:t> </a:t>
            </a:r>
            <a:r>
              <a:rPr lang="en-GB" sz="1600" dirty="0">
                <a:effectLst/>
                <a:latin typeface="Calisto MT" panose="02040603050505030304" pitchFamily="18" charset="0"/>
                <a:ea typeface="Times New Roman" panose="02020603050405020304" pitchFamily="18" charset="0"/>
                <a:cs typeface="Times New Roman" panose="02020603050405020304" pitchFamily="18" charset="0"/>
              </a:rPr>
              <a:t>Central University of South Bihar , Gaya </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B83AC43-E159-3AB2-7669-D570F015B467}"/>
              </a:ext>
            </a:extLst>
          </p:cNvPr>
          <p:cNvPicPr>
            <a:picLocks noChangeAspect="1"/>
          </p:cNvPicPr>
          <p:nvPr/>
        </p:nvPicPr>
        <p:blipFill>
          <a:blip r:embed="rId2"/>
          <a:stretch>
            <a:fillRect/>
          </a:stretch>
        </p:blipFill>
        <p:spPr>
          <a:xfrm>
            <a:off x="4985569" y="706314"/>
            <a:ext cx="2220862" cy="2142996"/>
          </a:xfrm>
          <a:prstGeom prst="rect">
            <a:avLst/>
          </a:prstGeom>
        </p:spPr>
      </p:pic>
      <p:sp>
        <p:nvSpPr>
          <p:cNvPr id="8" name="TextBox 7">
            <a:extLst>
              <a:ext uri="{FF2B5EF4-FFF2-40B4-BE49-F238E27FC236}">
                <a16:creationId xmlns:a16="http://schemas.microsoft.com/office/drawing/2014/main" id="{82CBE339-6EEB-8120-B8F0-17613132526F}"/>
              </a:ext>
            </a:extLst>
          </p:cNvPr>
          <p:cNvSpPr txBox="1"/>
          <p:nvPr/>
        </p:nvSpPr>
        <p:spPr>
          <a:xfrm>
            <a:off x="4574398" y="127321"/>
            <a:ext cx="4254642" cy="584775"/>
          </a:xfrm>
          <a:prstGeom prst="rect">
            <a:avLst/>
          </a:prstGeom>
          <a:noFill/>
        </p:spPr>
        <p:txBody>
          <a:bodyPr wrap="square" rtlCol="0">
            <a:spAutoFit/>
          </a:bodyPr>
          <a:lstStyle/>
          <a:p>
            <a:pPr algn="ctr"/>
            <a:r>
              <a:rPr lang="en-US" sz="3200" dirty="0">
                <a:latin typeface="Calisto MT" panose="02040603050505030304" pitchFamily="18" charset="0"/>
              </a:rPr>
              <a:t>2</a:t>
            </a:r>
            <a:r>
              <a:rPr lang="en-US" sz="3200" baseline="30000" dirty="0">
                <a:latin typeface="Calisto MT" panose="02040603050505030304" pitchFamily="18" charset="0"/>
              </a:rPr>
              <a:t>nd</a:t>
            </a:r>
            <a:r>
              <a:rPr lang="en-US" sz="3200" dirty="0">
                <a:latin typeface="Calisto MT" panose="02040603050505030304" pitchFamily="18" charset="0"/>
              </a:rPr>
              <a:t> Project Proposal  </a:t>
            </a:r>
            <a:endParaRPr lang="en-IN" sz="3200" dirty="0">
              <a:latin typeface="Calisto MT" panose="02040603050505030304" pitchFamily="18" charset="0"/>
            </a:endParaRPr>
          </a:p>
        </p:txBody>
      </p:sp>
      <p:sp>
        <p:nvSpPr>
          <p:cNvPr id="11" name="TextBox 10">
            <a:extLst>
              <a:ext uri="{FF2B5EF4-FFF2-40B4-BE49-F238E27FC236}">
                <a16:creationId xmlns:a16="http://schemas.microsoft.com/office/drawing/2014/main" id="{01EFA465-5AEB-99C7-3375-BA13BA61DDB2}"/>
              </a:ext>
            </a:extLst>
          </p:cNvPr>
          <p:cNvSpPr txBox="1"/>
          <p:nvPr/>
        </p:nvSpPr>
        <p:spPr>
          <a:xfrm>
            <a:off x="3241040" y="3104346"/>
            <a:ext cx="5049519" cy="196977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     PRESENTED BY: </a:t>
            </a:r>
          </a:p>
          <a:p>
            <a:pPr algn="ctr"/>
            <a:r>
              <a:rPr lang="en-US" b="1" dirty="0">
                <a:latin typeface="Times New Roman" panose="02020603050405020304" pitchFamily="18" charset="0"/>
                <a:cs typeface="Times New Roman" panose="02020603050405020304" pitchFamily="18" charset="0"/>
              </a:rPr>
              <a:t>         Rahul </a:t>
            </a:r>
            <a:r>
              <a:rPr lang="en-US" b="1" dirty="0" err="1">
                <a:latin typeface="Times New Roman" panose="02020603050405020304" pitchFamily="18" charset="0"/>
                <a:cs typeface="Times New Roman" panose="02020603050405020304" pitchFamily="18" charset="0"/>
              </a:rPr>
              <a:t>kumar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Mahato</a:t>
            </a:r>
            <a:r>
              <a:rPr lang="en-US" b="1" dirty="0">
                <a:latin typeface="Times New Roman" panose="02020603050405020304" pitchFamily="18" charset="0"/>
                <a:cs typeface="Times New Roman" panose="02020603050405020304" pitchFamily="18" charset="0"/>
              </a:rPr>
              <a:t> </a:t>
            </a:r>
          </a:p>
          <a:p>
            <a:pPr algn="ctr"/>
            <a:r>
              <a:rPr lang="en-GB" sz="18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1800" b="1" dirty="0">
                <a:effectLst/>
                <a:latin typeface="Calisto MT" panose="02040603050505030304" pitchFamily="18" charset="0"/>
                <a:ea typeface="Trebuchet MS" panose="020B0603020202020204" pitchFamily="34" charset="0"/>
                <a:cs typeface="Times New Roman" panose="02020603050405020304" pitchFamily="18" charset="0"/>
              </a:rPr>
              <a:t>Masters in  Data science &amp; Applied statistics</a:t>
            </a:r>
            <a:endParaRPr lang="en-IN" sz="18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US" sz="1600" b="1" dirty="0" err="1">
                <a:latin typeface="Times New Roman" panose="02020603050405020304" pitchFamily="18" charset="0"/>
                <a:cs typeface="Times New Roman" panose="02020603050405020304" pitchFamily="18" charset="0"/>
              </a:rPr>
              <a:t>EnRoll</a:t>
            </a:r>
            <a:r>
              <a:rPr lang="en-US" sz="1600" b="1" dirty="0">
                <a:latin typeface="Times New Roman" panose="02020603050405020304" pitchFamily="18" charset="0"/>
                <a:cs typeface="Times New Roman" panose="02020603050405020304" pitchFamily="18" charset="0"/>
              </a:rPr>
              <a:t> No </a:t>
            </a:r>
            <a:r>
              <a:rPr lang="en-US" sz="1600" dirty="0">
                <a:latin typeface="Times New Roman" panose="02020603050405020304" pitchFamily="18" charset="0"/>
                <a:cs typeface="Times New Roman" panose="02020603050405020304" pitchFamily="18" charset="0"/>
              </a:rPr>
              <a:t>- CUSB2302222005</a:t>
            </a:r>
          </a:p>
          <a:p>
            <a:pPr algn="ct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SEMESTER - III</a:t>
            </a:r>
            <a:endParaRPr lang="en-IN" sz="16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     [SESSION: 2023-2025]</a:t>
            </a:r>
            <a:endParaRPr lang="en-IN" sz="16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38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463039" y="2104102"/>
            <a:ext cx="5134405" cy="3065305"/>
          </a:xfrm>
        </p:spPr>
        <p:txBody>
          <a:bodyPr/>
          <a:lstStyle/>
          <a:p>
            <a:r>
              <a:rPr lang="en-US" sz="3600" b="1" dirty="0"/>
              <a:t>Prediction of Air Quality Index for Mumbai Region: A Machine Learning Approach</a:t>
            </a:r>
            <a:br>
              <a:rPr lang="en-US" sz="3600" dirty="0"/>
            </a:br>
            <a:endParaRPr lang="en-IN" sz="3600" dirty="0"/>
          </a:p>
        </p:txBody>
      </p:sp>
      <p:pic>
        <p:nvPicPr>
          <p:cNvPr id="7" name="Picture Placeholder 6">
            <a:extLst>
              <a:ext uri="{FF2B5EF4-FFF2-40B4-BE49-F238E27FC236}">
                <a16:creationId xmlns:a16="http://schemas.microsoft.com/office/drawing/2014/main" id="{E810CF04-0086-BBF3-75B3-2347AEF372C2}"/>
              </a:ext>
            </a:extLst>
          </p:cNvPr>
          <p:cNvPicPr>
            <a:picLocks noGrp="1" noChangeAspect="1"/>
          </p:cNvPicPr>
          <p:nvPr>
            <p:ph type="pic" sz="quarter" idx="10"/>
          </p:nvPr>
        </p:nvPicPr>
        <p:blipFill>
          <a:blip r:embed="rId2"/>
          <a:srcRect t="4096" b="4096"/>
          <a:stretch>
            <a:fillRect/>
          </a:stretch>
        </p:blipFill>
        <p:spPr/>
      </p:pic>
      <p:sp>
        <p:nvSpPr>
          <p:cNvPr id="5" name="TextBox 4">
            <a:extLst>
              <a:ext uri="{FF2B5EF4-FFF2-40B4-BE49-F238E27FC236}">
                <a16:creationId xmlns:a16="http://schemas.microsoft.com/office/drawing/2014/main" id="{3A758736-56D9-CB6E-006A-FBF3F33D7462}"/>
              </a:ext>
            </a:extLst>
          </p:cNvPr>
          <p:cNvSpPr txBox="1"/>
          <p:nvPr/>
        </p:nvSpPr>
        <p:spPr>
          <a:xfrm>
            <a:off x="1179870" y="1250256"/>
            <a:ext cx="2015614" cy="461665"/>
          </a:xfrm>
          <a:prstGeom prst="rect">
            <a:avLst/>
          </a:prstGeom>
          <a:noFill/>
        </p:spPr>
        <p:txBody>
          <a:bodyPr wrap="square" rtlCol="0">
            <a:spAutoFit/>
          </a:bodyPr>
          <a:lstStyle/>
          <a:p>
            <a:r>
              <a:rPr lang="en-US" sz="2400" b="1" dirty="0">
                <a:latin typeface="+mj-lt"/>
              </a:rPr>
              <a:t>Project Title:</a:t>
            </a:r>
            <a:endParaRPr lang="en-IN" sz="2400" dirty="0">
              <a:latin typeface="+mj-lt"/>
            </a:endParaRPr>
          </a:p>
        </p:txBody>
      </p:sp>
    </p:spTree>
    <p:extLst>
      <p:ext uri="{BB962C8B-B14F-4D97-AF65-F5344CB8AC3E}">
        <p14:creationId xmlns:p14="http://schemas.microsoft.com/office/powerpoint/2010/main" val="40970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DB732-6FD3-D0DA-92AF-1D7A68E3A3EE}"/>
              </a:ext>
            </a:extLst>
          </p:cNvPr>
          <p:cNvSpPr>
            <a:spLocks noGrp="1"/>
          </p:cNvSpPr>
          <p:nvPr>
            <p:ph type="title"/>
          </p:nvPr>
        </p:nvSpPr>
        <p:spPr/>
        <p:txBody>
          <a:bodyPr/>
          <a:lstStyle/>
          <a:p>
            <a:r>
              <a:rPr lang="en-US" dirty="0"/>
              <a:t>Objective </a:t>
            </a:r>
          </a:p>
        </p:txBody>
      </p:sp>
      <p:sp>
        <p:nvSpPr>
          <p:cNvPr id="13" name="Text Placeholder 12">
            <a:extLst>
              <a:ext uri="{FF2B5EF4-FFF2-40B4-BE49-F238E27FC236}">
                <a16:creationId xmlns:a16="http://schemas.microsoft.com/office/drawing/2014/main" id="{986D0EB4-87A1-9926-18A9-F1A65DC20A57}"/>
              </a:ext>
            </a:extLst>
          </p:cNvPr>
          <p:cNvSpPr>
            <a:spLocks noGrp="1"/>
          </p:cNvSpPr>
          <p:nvPr>
            <p:ph type="body" idx="1"/>
          </p:nvPr>
        </p:nvSpPr>
        <p:spPr>
          <a:xfrm>
            <a:off x="838200" y="1923685"/>
            <a:ext cx="10268712" cy="1505315"/>
          </a:xfrm>
        </p:spPr>
        <p:txBody>
          <a:bodyPr>
            <a:normAutofit/>
          </a:bodyPr>
          <a:lstStyle/>
          <a:p>
            <a:pPr algn="just"/>
            <a:r>
              <a:rPr lang="en-US" sz="1600" dirty="0">
                <a:latin typeface="+mj-lt"/>
              </a:rPr>
              <a:t>. </a:t>
            </a:r>
          </a:p>
          <a:p>
            <a:pPr algn="just"/>
            <a:endParaRPr lang="en-US" sz="1600" dirty="0">
              <a:latin typeface="+mj-lt"/>
            </a:endParaRPr>
          </a:p>
        </p:txBody>
      </p:sp>
      <p:sp>
        <p:nvSpPr>
          <p:cNvPr id="21" name="Content Placeholder 20">
            <a:extLst>
              <a:ext uri="{FF2B5EF4-FFF2-40B4-BE49-F238E27FC236}">
                <a16:creationId xmlns:a16="http://schemas.microsoft.com/office/drawing/2014/main" id="{4A6AD7D6-3293-B4C1-4263-E02BE31B4FF8}"/>
              </a:ext>
            </a:extLst>
          </p:cNvPr>
          <p:cNvSpPr>
            <a:spLocks noGrp="1"/>
          </p:cNvSpPr>
          <p:nvPr>
            <p:ph sz="half" idx="13"/>
          </p:nvPr>
        </p:nvSpPr>
        <p:spPr/>
        <p:txBody>
          <a:bodyPr/>
          <a:lstStyle/>
          <a:p>
            <a:r>
              <a:rPr lang="en-US" dirty="0"/>
              <a:t>Iterative approaches to corporate strategy</a:t>
            </a:r>
          </a:p>
          <a:p>
            <a:r>
              <a:rPr lang="en-US" dirty="0"/>
              <a:t>Establish a management framework from the inside</a:t>
            </a:r>
          </a:p>
        </p:txBody>
      </p:sp>
      <p:sp>
        <p:nvSpPr>
          <p:cNvPr id="15" name="Text Placeholder 14">
            <a:extLst>
              <a:ext uri="{FF2B5EF4-FFF2-40B4-BE49-F238E27FC236}">
                <a16:creationId xmlns:a16="http://schemas.microsoft.com/office/drawing/2014/main" id="{E309F894-D6ED-3B69-812A-EDD9C07D6D35}"/>
              </a:ext>
            </a:extLst>
          </p:cNvPr>
          <p:cNvSpPr>
            <a:spLocks noGrp="1"/>
          </p:cNvSpPr>
          <p:nvPr>
            <p:ph type="body" idx="3"/>
          </p:nvPr>
        </p:nvSpPr>
        <p:spPr/>
        <p:txBody>
          <a:bodyPr/>
          <a:lstStyle/>
          <a:p>
            <a:r>
              <a:rPr lang="en-US" dirty="0"/>
              <a:t>.</a:t>
            </a:r>
          </a:p>
          <a:p>
            <a:endParaRPr lang="en-US" dirty="0"/>
          </a:p>
        </p:txBody>
      </p:sp>
      <p:sp>
        <p:nvSpPr>
          <p:cNvPr id="29" name="Slide Number Placeholder 28">
            <a:extLst>
              <a:ext uri="{FF2B5EF4-FFF2-40B4-BE49-F238E27FC236}">
                <a16:creationId xmlns:a16="http://schemas.microsoft.com/office/drawing/2014/main" id="{3322B0EB-0749-E394-7D78-05C325473050}"/>
              </a:ext>
            </a:extLst>
          </p:cNvPr>
          <p:cNvSpPr>
            <a:spLocks noGrp="1"/>
          </p:cNvSpPr>
          <p:nvPr>
            <p:ph type="sldNum" sz="quarter" idx="12"/>
          </p:nvPr>
        </p:nvSpPr>
        <p:spPr/>
        <p:txBody>
          <a:bodyPr/>
          <a:lstStyle/>
          <a:p>
            <a:fld id="{8D0AFDD5-844D-364D-8AEC-50CF4D36D55D}" type="slidenum">
              <a:rPr lang="en-US" smtClean="0"/>
              <a:pPr/>
              <a:t>3</a:t>
            </a:fld>
            <a:endParaRPr lang="en-US" dirty="0"/>
          </a:p>
        </p:txBody>
      </p:sp>
      <p:sp>
        <p:nvSpPr>
          <p:cNvPr id="28" name="Footer Placeholder 27">
            <a:extLst>
              <a:ext uri="{FF2B5EF4-FFF2-40B4-BE49-F238E27FC236}">
                <a16:creationId xmlns:a16="http://schemas.microsoft.com/office/drawing/2014/main" id="{36FE9B74-96B4-4C88-49C9-E2D42BDCD20D}"/>
              </a:ext>
            </a:extLst>
          </p:cNvPr>
          <p:cNvSpPr>
            <a:spLocks noGrp="1"/>
          </p:cNvSpPr>
          <p:nvPr>
            <p:ph type="ftr" sz="quarter" idx="11"/>
          </p:nvPr>
        </p:nvSpPr>
        <p:spPr/>
        <p:txBody>
          <a:bodyPr/>
          <a:lstStyle/>
          <a:p>
            <a:r>
              <a:rPr lang="en-US" dirty="0"/>
              <a:t>Project proposal </a:t>
            </a:r>
          </a:p>
        </p:txBody>
      </p:sp>
      <p:sp>
        <p:nvSpPr>
          <p:cNvPr id="27" name="Date Placeholder 26">
            <a:extLst>
              <a:ext uri="{FF2B5EF4-FFF2-40B4-BE49-F238E27FC236}">
                <a16:creationId xmlns:a16="http://schemas.microsoft.com/office/drawing/2014/main" id="{8A78422D-0122-1218-F0A5-9EF64D22D921}"/>
              </a:ext>
            </a:extLst>
          </p:cNvPr>
          <p:cNvSpPr>
            <a:spLocks noGrp="1"/>
          </p:cNvSpPr>
          <p:nvPr>
            <p:ph type="dt" sz="half" idx="10"/>
          </p:nvPr>
        </p:nvSpPr>
        <p:spPr/>
        <p:txBody>
          <a:bodyPr/>
          <a:lstStyle/>
          <a:p>
            <a:r>
              <a:rPr lang="en-US" dirty="0"/>
              <a:t>2024</a:t>
            </a:r>
          </a:p>
        </p:txBody>
      </p:sp>
      <p:sp>
        <p:nvSpPr>
          <p:cNvPr id="8" name="TextBox 7">
            <a:extLst>
              <a:ext uri="{FF2B5EF4-FFF2-40B4-BE49-F238E27FC236}">
                <a16:creationId xmlns:a16="http://schemas.microsoft.com/office/drawing/2014/main" id="{9F0631F7-FB5E-06F6-336F-0ABC6189544E}"/>
              </a:ext>
            </a:extLst>
          </p:cNvPr>
          <p:cNvSpPr txBox="1"/>
          <p:nvPr/>
        </p:nvSpPr>
        <p:spPr>
          <a:xfrm>
            <a:off x="5771535" y="2900516"/>
            <a:ext cx="184731" cy="369332"/>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F28A2CB1-C2F6-AFFA-2C89-3B0FF40F13F8}"/>
              </a:ext>
            </a:extLst>
          </p:cNvPr>
          <p:cNvSpPr txBox="1"/>
          <p:nvPr/>
        </p:nvSpPr>
        <p:spPr>
          <a:xfrm>
            <a:off x="1455175" y="2049779"/>
            <a:ext cx="9517626" cy="1477328"/>
          </a:xfrm>
          <a:prstGeom prst="rect">
            <a:avLst/>
          </a:prstGeom>
          <a:noFill/>
        </p:spPr>
        <p:txBody>
          <a:bodyPr wrap="square" rtlCol="0">
            <a:spAutoFit/>
          </a:bodyPr>
          <a:lstStyle/>
          <a:p>
            <a:r>
              <a:rPr lang="en-US" sz="1800" dirty="0">
                <a:latin typeface="Calisto MT" panose="02040603050505030304" pitchFamily="18" charset="0"/>
              </a:rPr>
              <a:t>Mumbai faces </a:t>
            </a:r>
            <a:r>
              <a:rPr lang="en-US" sz="1800" b="1" dirty="0">
                <a:latin typeface="Calisto MT" panose="02040603050505030304" pitchFamily="18" charset="0"/>
              </a:rPr>
              <a:t>ongoing</a:t>
            </a:r>
            <a:r>
              <a:rPr lang="en-US" sz="1800" dirty="0">
                <a:latin typeface="Calisto MT" panose="02040603050505030304" pitchFamily="18" charset="0"/>
              </a:rPr>
              <a:t> air pollution challenges due to rapid urbanization, dense population, and industrial activity. The primary objective of this project is to analyze and predict the Air Quality Index (AQI) in Mumbai using machine learning algorithms and artificial neural networks (ANN).</a:t>
            </a:r>
            <a:endParaRPr lang="en-US" sz="2000" dirty="0">
              <a:latin typeface="Calisto MT" panose="02040603050505030304" pitchFamily="18" charset="0"/>
            </a:endParaRPr>
          </a:p>
          <a:p>
            <a:endParaRPr lang="en-IN" dirty="0"/>
          </a:p>
        </p:txBody>
      </p:sp>
      <p:sp>
        <p:nvSpPr>
          <p:cNvPr id="10" name="TextBox 9">
            <a:extLst>
              <a:ext uri="{FF2B5EF4-FFF2-40B4-BE49-F238E27FC236}">
                <a16:creationId xmlns:a16="http://schemas.microsoft.com/office/drawing/2014/main" id="{A575BD9A-15FF-F92D-46BB-C80D868E22AE}"/>
              </a:ext>
            </a:extLst>
          </p:cNvPr>
          <p:cNvSpPr txBox="1"/>
          <p:nvPr/>
        </p:nvSpPr>
        <p:spPr>
          <a:xfrm>
            <a:off x="1337187" y="4176288"/>
            <a:ext cx="9517626" cy="1200329"/>
          </a:xfrm>
          <a:prstGeom prst="rect">
            <a:avLst/>
          </a:prstGeom>
          <a:noFill/>
        </p:spPr>
        <p:txBody>
          <a:bodyPr wrap="square" rtlCol="0">
            <a:spAutoFit/>
          </a:bodyPr>
          <a:lstStyle/>
          <a:p>
            <a:r>
              <a:rPr lang="en-US" dirty="0">
                <a:latin typeface="Calisto MT" panose="02040603050505030304" pitchFamily="18" charset="0"/>
              </a:rPr>
              <a:t>By identifying patterns in pollutant concentrations and weather data, this project aims to forecast Air Quality Index levels accurately and provide insights into reducing pollution in the city. This model will serve as a tool to inform policy decisions, enhance pollution control measures, and improve public health in Mumbai.</a:t>
            </a:r>
            <a:endParaRPr lang="en-IN" dirty="0">
              <a:latin typeface="Calisto MT" panose="02040603050505030304" pitchFamily="18" charset="0"/>
            </a:endParaRPr>
          </a:p>
        </p:txBody>
      </p:sp>
    </p:spTree>
    <p:extLst>
      <p:ext uri="{BB962C8B-B14F-4D97-AF65-F5344CB8AC3E}">
        <p14:creationId xmlns:p14="http://schemas.microsoft.com/office/powerpoint/2010/main" val="164672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1000" fill="hold"/>
                                        <p:tgtEl>
                                          <p:spTgt spid="9"/>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4</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12" name="TextBox 11">
            <a:extLst>
              <a:ext uri="{FF2B5EF4-FFF2-40B4-BE49-F238E27FC236}">
                <a16:creationId xmlns:a16="http://schemas.microsoft.com/office/drawing/2014/main" id="{EBB6BF3D-AC99-7395-E646-5A77C7281A74}"/>
              </a:ext>
            </a:extLst>
          </p:cNvPr>
          <p:cNvSpPr txBox="1"/>
          <p:nvPr/>
        </p:nvSpPr>
        <p:spPr>
          <a:xfrm>
            <a:off x="779780" y="130473"/>
            <a:ext cx="10632440" cy="6032421"/>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Introduction</a:t>
            </a:r>
          </a:p>
          <a:p>
            <a:endParaRPr lang="en-US" sz="1600" b="1"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1.1 Mumbai Air Pollution</a:t>
            </a:r>
          </a:p>
          <a:p>
            <a:r>
              <a:rPr lang="en-US" sz="1600" dirty="0">
                <a:latin typeface="Arial" panose="020B0604020202020204" pitchFamily="34" charset="0"/>
                <a:cs typeface="Arial" panose="020B0604020202020204" pitchFamily="34" charset="0"/>
              </a:rPr>
              <a:t>Mumbai, spanning an area of 603.4 km², is located on the western coast of India, along the Arabian Sea, with a latitude range from 18.887 to 19.271°N and a longitude range from 72.775 to 72.978°E. Governed by the Maharashtra state government and the Brihanmumbai Municipal Corporation (BMC), Mumbai is the financial capital of India and one of the most densely populated cities globally. As of the 2011 census, it is home to approximately 12.4 million residents, making it the most populous city in India. This dense population, along with rapid urban and economic development, has led to significant air quality challenges in the city.</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What’s Polluting Mumbai’s Air?</a:t>
            </a:r>
          </a:p>
          <a:p>
            <a:r>
              <a:rPr lang="en-US" sz="1600" dirty="0">
                <a:latin typeface="Arial" panose="020B0604020202020204" pitchFamily="34" charset="0"/>
                <a:cs typeface="Arial" panose="020B0604020202020204" pitchFamily="34" charset="0"/>
              </a:rPr>
              <a:t>Air pollution has become an escalating issue in Mumbai, as both urban and industrial activities have continued to grow rapidly. Mumbai's air pollution is a serious health and environmental concern, affecting millions daily. The major contributors to Mumbai's deteriorating air quality include vehicular emissions, industrial activities, construction dust, and seasonal changes that often exacerbate pollution levels. Although the city has taken various measures to control pollution, particularly in recent years, the challenge remains formidable due to continuous population growth and economic expansion.</a:t>
            </a:r>
          </a:p>
          <a:p>
            <a:r>
              <a:rPr lang="en-US" sz="1600" dirty="0">
                <a:latin typeface="Arial" panose="020B0604020202020204" pitchFamily="34" charset="0"/>
                <a:cs typeface="Arial" panose="020B0604020202020204" pitchFamily="34" charset="0"/>
              </a:rPr>
              <a:t>Mumbai’s air quality has increasingly been monitored and studied to assess pollution levels accurately. Yet, common questions such as the exact levels of pollution and identifying specific pollution sources remain. This project seeks to analyze and forecast Mumbai’s Air Quality Index (AQI), leveraging pollutant concentration data and meteorological variables, to better understand the patterns and potential interventions for improving air quality in the city</a:t>
            </a:r>
            <a:r>
              <a:rPr lang="en-US" dirty="0"/>
              <a:t>.</a:t>
            </a:r>
          </a:p>
        </p:txBody>
      </p:sp>
    </p:spTree>
    <p:extLst>
      <p:ext uri="{BB962C8B-B14F-4D97-AF65-F5344CB8AC3E}">
        <p14:creationId xmlns:p14="http://schemas.microsoft.com/office/powerpoint/2010/main" val="2240597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5</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FAD8ECE5-3163-B1A2-542E-FE5C3E3A0C45}"/>
              </a:ext>
            </a:extLst>
          </p:cNvPr>
          <p:cNvSpPr txBox="1"/>
          <p:nvPr/>
        </p:nvSpPr>
        <p:spPr>
          <a:xfrm>
            <a:off x="772160" y="193412"/>
            <a:ext cx="9763760"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This study aims to contribute to the existing body of research by using machine learning techniques on historical data to provide predictive insights on Mumbai’s AQI. By identifying significant pollutant contributors and environmental patterns, this project will aid policymakers and environmental agencies in formulating targeted pollution control measures for Mumbai.</a:t>
            </a:r>
          </a:p>
        </p:txBody>
      </p:sp>
      <p:sp>
        <p:nvSpPr>
          <p:cNvPr id="5" name="TextBox 4">
            <a:extLst>
              <a:ext uri="{FF2B5EF4-FFF2-40B4-BE49-F238E27FC236}">
                <a16:creationId xmlns:a16="http://schemas.microsoft.com/office/drawing/2014/main" id="{A31161E1-3147-F624-6D40-0DF0CB89E0A4}"/>
              </a:ext>
            </a:extLst>
          </p:cNvPr>
          <p:cNvSpPr txBox="1"/>
          <p:nvPr/>
        </p:nvSpPr>
        <p:spPr>
          <a:xfrm>
            <a:off x="772160" y="1348433"/>
            <a:ext cx="10840720" cy="452431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 the dataset for predicting the Air Quality Index (AQI) of Mumbai, the key </a:t>
            </a:r>
            <a:r>
              <a:rPr lang="en-US" sz="1600" b="1" dirty="0">
                <a:latin typeface="Arial" panose="020B0604020202020204" pitchFamily="34" charset="0"/>
                <a:cs typeface="Arial" panose="020B0604020202020204" pitchFamily="34" charset="0"/>
              </a:rPr>
              <a:t>pollutants</a:t>
            </a:r>
            <a:r>
              <a:rPr lang="en-US" sz="1600" dirty="0">
                <a:latin typeface="Arial" panose="020B0604020202020204" pitchFamily="34" charset="0"/>
                <a:cs typeface="Arial" panose="020B0604020202020204" pitchFamily="34" charset="0"/>
              </a:rPr>
              <a:t> that are important for understanding air quality and influencing AQI levels include the following:</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1. PM2.5 (µg/m³)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Particulate Matter (PM2.5)</a:t>
            </a:r>
            <a:r>
              <a:rPr lang="en-US" sz="1600" dirty="0">
                <a:latin typeface="Arial" panose="020B0604020202020204" pitchFamily="34" charset="0"/>
                <a:cs typeface="Arial" panose="020B0604020202020204" pitchFamily="34" charset="0"/>
              </a:rPr>
              <a:t> refers to fine particles with a diameter of 2.5 micrometers or smaller. Due to their small size, these particles can penetrate deep into the lungs and enter the bloodstream, posing significant health risks.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PM2.5 is primarily emitted from vehicle exhaust, industrial emissions, combustion of fossil fuels, construction activities, and biomass burning. It is particularly hazardous and a major contributor to smog.</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Prolonged exposure to PM2.5 can cause respiratory issues, cardiovascular diseases, and worsen conditions like asthma and bronchitis.</a:t>
            </a:r>
          </a:p>
          <a:p>
            <a:endParaRPr lang="en-US" sz="1600" b="1"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2. PM10 (µg/m³)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Particulate Matter (PM10)</a:t>
            </a:r>
            <a:r>
              <a:rPr lang="en-US" sz="1600" dirty="0">
                <a:latin typeface="Arial" panose="020B0604020202020204" pitchFamily="34" charset="0"/>
                <a:cs typeface="Arial" panose="020B0604020202020204" pitchFamily="34" charset="0"/>
              </a:rPr>
              <a:t> refers to larger particles with a diameter of 10 micrometers or smaller. These particles can settle in the respiratory tract but are less likely to penetrate deeply compared to PM2.5.</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PM10 is generated from construction dust, road dust, industrial emissions, and agriculture. It also includes pollen, mold spores, and other airborne particles.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Exposure to PM10 can cause irritation of the eyes, nose, and throat, respiratory problems, and aggravate existing health conditions like asthma.</a:t>
            </a:r>
          </a:p>
        </p:txBody>
      </p:sp>
    </p:spTree>
    <p:extLst>
      <p:ext uri="{BB962C8B-B14F-4D97-AF65-F5344CB8AC3E}">
        <p14:creationId xmlns:p14="http://schemas.microsoft.com/office/powerpoint/2010/main" val="776308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6</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3F1F25BA-7212-0F33-5E54-5C1E7CD8698B}"/>
              </a:ext>
            </a:extLst>
          </p:cNvPr>
          <p:cNvSpPr txBox="1"/>
          <p:nvPr/>
        </p:nvSpPr>
        <p:spPr>
          <a:xfrm>
            <a:off x="501534" y="250813"/>
            <a:ext cx="11188931" cy="3539430"/>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3. NO (Nitric Oxide) (µg/m³)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Nitric Oxide (NO)</a:t>
            </a:r>
            <a:r>
              <a:rPr lang="en-US" sz="1600" dirty="0">
                <a:latin typeface="Arial" panose="020B0604020202020204" pitchFamily="34" charset="0"/>
                <a:cs typeface="Arial" panose="020B0604020202020204" pitchFamily="34" charset="0"/>
              </a:rPr>
              <a:t> is a reactive gas primarily emitted from vehicle engines and industrial processes during combustion at high temperatures.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The primary sources of NO are combustion engines in vehicles, power plants, and industrial facilities.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While less harmful on its own, NO can react with other chemicals in the atmosphere to form nitrogen dioxide (NO₂) and contribute to the formation of ground-level ozone, both of which can cause respiratory problems.</a:t>
            </a:r>
          </a:p>
          <a:p>
            <a:pPr>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4. NO₂ (Nitrogen Dioxide) (µg/m³)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Nitrogen Dioxide (NO₂)</a:t>
            </a:r>
            <a:r>
              <a:rPr lang="en-US" sz="1600" dirty="0">
                <a:latin typeface="Arial" panose="020B0604020202020204" pitchFamily="34" charset="0"/>
                <a:cs typeface="Arial" panose="020B0604020202020204" pitchFamily="34" charset="0"/>
              </a:rPr>
              <a:t> is a toxic gas that contributes to the formation of smog and acid rain. It is a significant air pollutant and a major contributor to poor air quality.</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NO₂ is formed when fuel is burned at high temperatures, particularly in motor vehicles, power plants, and factories.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Prolonged exposure to NO₂ can cause respiratory problems, lung inflammation, decreased lung function, and increased risk of respiratory infections.</a:t>
            </a:r>
          </a:p>
        </p:txBody>
      </p:sp>
      <p:sp>
        <p:nvSpPr>
          <p:cNvPr id="5" name="TextBox 4">
            <a:extLst>
              <a:ext uri="{FF2B5EF4-FFF2-40B4-BE49-F238E27FC236}">
                <a16:creationId xmlns:a16="http://schemas.microsoft.com/office/drawing/2014/main" id="{E97F1F30-521C-63CB-C52A-9172351900CD}"/>
              </a:ext>
            </a:extLst>
          </p:cNvPr>
          <p:cNvSpPr txBox="1"/>
          <p:nvPr/>
        </p:nvSpPr>
        <p:spPr>
          <a:xfrm>
            <a:off x="501534" y="4021864"/>
            <a:ext cx="10970030" cy="1569660"/>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5. NOx (ppb)</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Nitrogen Oxides (NOx)</a:t>
            </a:r>
            <a:r>
              <a:rPr lang="en-US" sz="1600" dirty="0">
                <a:latin typeface="Arial" panose="020B0604020202020204" pitchFamily="34" charset="0"/>
                <a:cs typeface="Arial" panose="020B0604020202020204" pitchFamily="34" charset="0"/>
              </a:rPr>
              <a:t> is a term that represents a group of gases including NO and NO₂. These gases play a key role in forming ground-level ozone and particulate matter.</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Similar to NO and NO₂, NOx is mainly emitted from vehicles, power plants, and industrial activities.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Exposure to high levels of NOx can increase the likelihood of developing asthma, bronchitis, and other respiratory conditions.</a:t>
            </a:r>
          </a:p>
        </p:txBody>
      </p:sp>
    </p:spTree>
    <p:extLst>
      <p:ext uri="{BB962C8B-B14F-4D97-AF65-F5344CB8AC3E}">
        <p14:creationId xmlns:p14="http://schemas.microsoft.com/office/powerpoint/2010/main" val="971817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7</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17E96845-4486-55A3-87A3-D411A25552D4}"/>
              </a:ext>
            </a:extLst>
          </p:cNvPr>
          <p:cNvSpPr txBox="1"/>
          <p:nvPr/>
        </p:nvSpPr>
        <p:spPr>
          <a:xfrm>
            <a:off x="293716" y="430702"/>
            <a:ext cx="11604567" cy="5293757"/>
          </a:xfrm>
          <a:prstGeom prst="rect">
            <a:avLst/>
          </a:prstGeom>
          <a:noFill/>
        </p:spPr>
        <p:txBody>
          <a:bodyPr wrap="square">
            <a:spAutoFit/>
          </a:bodyPr>
          <a:lstStyle/>
          <a:p>
            <a:r>
              <a:rPr lang="en-US" b="1" dirty="0"/>
              <a:t>6</a:t>
            </a:r>
            <a:r>
              <a:rPr lang="en-US" sz="1600" b="1" dirty="0">
                <a:latin typeface="Arial" panose="020B0604020202020204" pitchFamily="34" charset="0"/>
                <a:cs typeface="Arial" panose="020B0604020202020204" pitchFamily="34" charset="0"/>
              </a:rPr>
              <a:t>. NH₃ (Ammonia) (µg/m³)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Ammonia (NH₃)</a:t>
            </a:r>
            <a:r>
              <a:rPr lang="en-US" sz="1600" dirty="0">
                <a:latin typeface="Arial" panose="020B0604020202020204" pitchFamily="34" charset="0"/>
                <a:cs typeface="Arial" panose="020B0604020202020204" pitchFamily="34" charset="0"/>
              </a:rPr>
              <a:t> is a colorless gas with a distinct odor, often released from agricultural activities, fertilizers, and industrial processes.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The primary sources of NH₃ include agriculture (particularly livestock waste and fertilizers), sewage treatment plants, and vehicle emissions.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Ammonia can irritate the eyes, nose, and throat. In higher concentrations, it can lead to respiratory problems and contribute to the formation of fine particulate matter (PM2.5).</a:t>
            </a:r>
          </a:p>
          <a:p>
            <a:pPr>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7. SO₂ (Sulfur Dioxide) (µg/m³)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Sulfur Dioxide (SO₂)</a:t>
            </a:r>
            <a:r>
              <a:rPr lang="en-US" sz="1600" dirty="0">
                <a:latin typeface="Arial" panose="020B0604020202020204" pitchFamily="34" charset="0"/>
                <a:cs typeface="Arial" panose="020B0604020202020204" pitchFamily="34" charset="0"/>
              </a:rPr>
              <a:t> is a gas that is released when sulfur-containing fuels like coal, oil, or diesel are burned.</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Major sources include power plants, industrial processes (especially metal smelting), and vehicle emissions. Volcanoes also naturally release SO₂ into the atmosphere.</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Exposure to SO₂ can cause respiratory symptoms, aggravate asthma, and contribute to the formation of fine particulate matter and acid rain.</a:t>
            </a:r>
          </a:p>
          <a:p>
            <a:pPr>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8. CO (Carbon Monoxide) (mg/m³)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Carbon Monoxide (CO)</a:t>
            </a:r>
            <a:r>
              <a:rPr lang="en-US" sz="1600" dirty="0">
                <a:latin typeface="Arial" panose="020B0604020202020204" pitchFamily="34" charset="0"/>
                <a:cs typeface="Arial" panose="020B0604020202020204" pitchFamily="34" charset="0"/>
              </a:rPr>
              <a:t> is a colorless, odorless gas produced by incomplete combustion of carbon-based fuels.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The primary sources of CO are motor vehicle exhaust, industrial emissions, and burning of biomass (e.g., wood, coal).</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High levels of CO can lead to dizziness, confusion, and even death due to the gas’s ability to prevent oxygen from being transported in the blood.</a:t>
            </a:r>
          </a:p>
        </p:txBody>
      </p:sp>
    </p:spTree>
    <p:extLst>
      <p:ext uri="{BB962C8B-B14F-4D97-AF65-F5344CB8AC3E}">
        <p14:creationId xmlns:p14="http://schemas.microsoft.com/office/powerpoint/2010/main" val="261376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8</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B47935B2-0D3C-9B3A-BD10-ABBA11CD5C1A}"/>
              </a:ext>
            </a:extLst>
          </p:cNvPr>
          <p:cNvSpPr txBox="1"/>
          <p:nvPr/>
        </p:nvSpPr>
        <p:spPr>
          <a:xfrm>
            <a:off x="714895" y="577840"/>
            <a:ext cx="10723418" cy="2092881"/>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O₃ (Ozone) (µg/m³)</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Ozone (O₃)</a:t>
            </a:r>
            <a:r>
              <a:rPr lang="en-US" sz="1600" dirty="0">
                <a:latin typeface="Arial" panose="020B0604020202020204" pitchFamily="34" charset="0"/>
                <a:cs typeface="Arial" panose="020B0604020202020204" pitchFamily="34" charset="0"/>
              </a:rPr>
              <a:t> at ground level is a secondary pollutant formed by the reaction of sunlight with nitrogen oxides (NOx) and volatile organic compounds (VOCs). While ozone high in the atmosphere protects us from the sun’s UV rays, ground-level ozone is harmful.</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Sources</a:t>
            </a:r>
            <a:r>
              <a:rPr lang="en-US" sz="1600" dirty="0">
                <a:latin typeface="Arial" panose="020B0604020202020204" pitchFamily="34" charset="0"/>
                <a:cs typeface="Arial" panose="020B0604020202020204" pitchFamily="34" charset="0"/>
              </a:rPr>
              <a:t>: O₃ is formed through chemical reactions between NOx and VOCs, often emitted from vehicles, power plants, and industrial sources.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Health Effects</a:t>
            </a:r>
            <a:r>
              <a:rPr lang="en-US" sz="1600" dirty="0">
                <a:latin typeface="Arial" panose="020B0604020202020204" pitchFamily="34" charset="0"/>
                <a:cs typeface="Arial" panose="020B0604020202020204" pitchFamily="34" charset="0"/>
              </a:rPr>
              <a:t>: Ground-level ozone is a major component of smog and can cause a range of respiratory issues, including chest pain, coughing, and throat irritation. It can also worsen conditions like asthma and bronchitis</a:t>
            </a:r>
            <a:r>
              <a:rPr lang="en-US" dirty="0"/>
              <a:t>.</a:t>
            </a:r>
          </a:p>
        </p:txBody>
      </p:sp>
    </p:spTree>
    <p:extLst>
      <p:ext uri="{BB962C8B-B14F-4D97-AF65-F5344CB8AC3E}">
        <p14:creationId xmlns:p14="http://schemas.microsoft.com/office/powerpoint/2010/main" val="657943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9</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CEB84C77-C666-FF78-63B8-9084E869B6C7}"/>
              </a:ext>
            </a:extLst>
          </p:cNvPr>
          <p:cNvSpPr txBox="1"/>
          <p:nvPr/>
        </p:nvSpPr>
        <p:spPr>
          <a:xfrm>
            <a:off x="608152" y="495781"/>
            <a:ext cx="11162670" cy="3539430"/>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Air Quality Index (AQI) </a:t>
            </a:r>
            <a:r>
              <a:rPr lang="en-US" sz="1600" dirty="0">
                <a:latin typeface="Arial" panose="020B0604020202020204" pitchFamily="34" charset="0"/>
                <a:cs typeface="Arial" panose="020B0604020202020204" pitchFamily="34" charset="0"/>
              </a:rPr>
              <a:t>Awareness of daily levels of air pollution is important to the citizens, especially for those who suffer from illnesses caused by exposure to air pollution. Further, success of a nation to improve air quality depends on the support of its citizens who are well-informed about local and national air pollution problems and about the progress of mitigation efforts. Thus, a simple yet effective communication of air quality is important. The concept of an air quality index (AQI) that transforms weighted values of individual air pollution related parameters (e.g. SO2, CO, visibility, etc.) into a single number or set of numbers is widely used for air quality communication and decision making in many countries. Air quality monitoring procedures and protocols, Indian National Air Quality Standards (INAQS) and dose-response relationships of pollutants, an AQI system is devised. The AQI system is based on maximum operator of a function (i.e. selecting the maximum of subindices of individual pollutants as an overall AQI). The objective of an AQI is to quickly disseminate air quality information (almost in real-time) that entails the system to account for pollutants which have short-term impacts. Eight parameters (PM10, PM25, NO2, SO2, CO, O3, NH3, and Pb) having short-term standards have been considered for near real-time dissemination of AQI. It is recognized that air concentrations of Pb are not known in real-time and cannot contribute to AQI. However, its consideration in AQI calculation of past days will help in scrutinizing the status of this important toxic. The proposed index has six categories with elegant </a:t>
            </a:r>
            <a:r>
              <a:rPr lang="en-US" sz="1600" dirty="0" err="1">
                <a:latin typeface="Arial" panose="020B0604020202020204" pitchFamily="34" charset="0"/>
                <a:cs typeface="Arial" panose="020B0604020202020204" pitchFamily="34" charset="0"/>
              </a:rPr>
              <a:t>colour</a:t>
            </a:r>
            <a:r>
              <a:rPr lang="en-US" sz="1600" dirty="0">
                <a:latin typeface="Arial" panose="020B0604020202020204" pitchFamily="34" charset="0"/>
                <a:cs typeface="Arial" panose="020B0604020202020204" pitchFamily="34" charset="0"/>
              </a:rPr>
              <a:t> scheme, as shown below</a:t>
            </a:r>
            <a:endParaRPr lang="en-I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2F22396-4AD3-36E3-EDB7-7A92B9E35048}"/>
              </a:ext>
            </a:extLst>
          </p:cNvPr>
          <p:cNvPicPr>
            <a:picLocks noChangeAspect="1"/>
          </p:cNvPicPr>
          <p:nvPr/>
        </p:nvPicPr>
        <p:blipFill>
          <a:blip r:embed="rId2"/>
          <a:stretch>
            <a:fillRect/>
          </a:stretch>
        </p:blipFill>
        <p:spPr>
          <a:xfrm>
            <a:off x="628203" y="4592504"/>
            <a:ext cx="10641022" cy="749368"/>
          </a:xfrm>
          <a:prstGeom prst="rect">
            <a:avLst/>
          </a:prstGeom>
        </p:spPr>
      </p:pic>
    </p:spTree>
    <p:extLst>
      <p:ext uri="{BB962C8B-B14F-4D97-AF65-F5344CB8AC3E}">
        <p14:creationId xmlns:p14="http://schemas.microsoft.com/office/powerpoint/2010/main" val="2678490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10</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58D502EA-E7EC-1B5A-2673-BAA3BC84BE48}"/>
              </a:ext>
            </a:extLst>
          </p:cNvPr>
          <p:cNvSpPr txBox="1"/>
          <p:nvPr/>
        </p:nvSpPr>
        <p:spPr>
          <a:xfrm>
            <a:off x="528320" y="264830"/>
            <a:ext cx="11405062" cy="2554545"/>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Indian Air Quality Index system Air quality</a:t>
            </a:r>
            <a:r>
              <a:rPr lang="en-US" sz="1600" dirty="0">
                <a:latin typeface="Arial" panose="020B0604020202020204" pitchFamily="34" charset="0"/>
                <a:cs typeface="Arial" panose="020B0604020202020204" pitchFamily="34" charset="0"/>
              </a:rPr>
              <a:t> standards are the basic foundation that provides a legal framework for air pollution control. An air quality standard is a description of a level of air quality that is adopted by a regulatory authority as enforceable. The basis of development of stan </a:t>
            </a:r>
            <a:r>
              <a:rPr lang="en-US" sz="1600" dirty="0" err="1">
                <a:latin typeface="Arial" panose="020B0604020202020204" pitchFamily="34" charset="0"/>
                <a:cs typeface="Arial" panose="020B0604020202020204" pitchFamily="34" charset="0"/>
              </a:rPr>
              <a:t>dards</a:t>
            </a:r>
            <a:r>
              <a:rPr lang="en-US" sz="1600" dirty="0">
                <a:latin typeface="Arial" panose="020B0604020202020204" pitchFamily="34" charset="0"/>
                <a:cs typeface="Arial" panose="020B0604020202020204" pitchFamily="34" charset="0"/>
              </a:rPr>
              <a:t> is to provide a rational for protecting public health from adverse effects of air pollutants, to eliminate or reduce exposure to hazardous air pollutants, and to guide national/ local authorities for pollution control decisions. With these objectives, CPCB notified (http://www.cpcb.nic.in) a new set of Indian National Air Quality Standards (INAQS) for 12 parameters [carbon monoxide (CO) nitrogen dioxide (NO2), </a:t>
            </a:r>
            <a:r>
              <a:rPr lang="en-US" sz="1600" dirty="0" err="1">
                <a:latin typeface="Arial" panose="020B0604020202020204" pitchFamily="34" charset="0"/>
                <a:cs typeface="Arial" panose="020B0604020202020204" pitchFamily="34" charset="0"/>
              </a:rPr>
              <a:t>sulphur</a:t>
            </a:r>
            <a:r>
              <a:rPr lang="en-US" sz="1600" dirty="0">
                <a:latin typeface="Arial" panose="020B0604020202020204" pitchFamily="34" charset="0"/>
                <a:cs typeface="Arial" panose="020B0604020202020204" pitchFamily="34" charset="0"/>
              </a:rPr>
              <a:t> dioxide (SO2), particulate matter (PM) of less than 2.5microns size (PM25), PM of less than 10 microns size (PM10), Ozone (O3), Lead (Pb), Ammonia (NH3),Benzo(a)Pyrene (</a:t>
            </a:r>
            <a:r>
              <a:rPr lang="en-US" sz="1600" dirty="0" err="1">
                <a:latin typeface="Arial" panose="020B0604020202020204" pitchFamily="34" charset="0"/>
                <a:cs typeface="Arial" panose="020B0604020202020204" pitchFamily="34" charset="0"/>
              </a:rPr>
              <a:t>BaP</a:t>
            </a:r>
            <a:r>
              <a:rPr lang="en-US" sz="1600" dirty="0">
                <a:latin typeface="Arial" panose="020B0604020202020204" pitchFamily="34" charset="0"/>
                <a:cs typeface="Arial" panose="020B0604020202020204" pitchFamily="34" charset="0"/>
              </a:rPr>
              <a:t>), Benzene (C6H6), Arsenic (As), and Nickel (Ni)] . The first eight parameters have short-term (1/8/24 </a:t>
            </a:r>
            <a:r>
              <a:rPr lang="en-US" sz="1600" dirty="0" err="1">
                <a:latin typeface="Arial" panose="020B0604020202020204" pitchFamily="34" charset="0"/>
                <a:cs typeface="Arial" panose="020B0604020202020204" pitchFamily="34" charset="0"/>
              </a:rPr>
              <a:t>hrs</a:t>
            </a:r>
            <a:r>
              <a:rPr lang="en-US" sz="1600" dirty="0">
                <a:latin typeface="Arial" panose="020B0604020202020204" pitchFamily="34" charset="0"/>
                <a:cs typeface="Arial" panose="020B0604020202020204" pitchFamily="34" charset="0"/>
              </a:rPr>
              <a:t>) and annual standards (except for CO and O3) and rest four pa </a:t>
            </a:r>
            <a:r>
              <a:rPr lang="en-US" sz="1600" dirty="0" err="1">
                <a:latin typeface="Arial" panose="020B0604020202020204" pitchFamily="34" charset="0"/>
                <a:cs typeface="Arial" panose="020B0604020202020204" pitchFamily="34" charset="0"/>
              </a:rPr>
              <a:t>rameters</a:t>
            </a:r>
            <a:r>
              <a:rPr lang="en-US" sz="1600" dirty="0">
                <a:latin typeface="Arial" panose="020B0604020202020204" pitchFamily="34" charset="0"/>
                <a:cs typeface="Arial" panose="020B0604020202020204" pitchFamily="34" charset="0"/>
              </a:rPr>
              <a:t> have only annual standards</a:t>
            </a:r>
            <a:endParaRPr lang="en-IN" sz="1600" dirty="0">
              <a:latin typeface="Arial" panose="020B0604020202020204" pitchFamily="34" charset="0"/>
              <a:cs typeface="Arial" panose="020B0604020202020204" pitchFamily="34" charset="0"/>
            </a:endParaRPr>
          </a:p>
        </p:txBody>
      </p:sp>
      <p:pic>
        <p:nvPicPr>
          <p:cNvPr id="1026" name="Picture 2" descr="Understanding Real-time Air Quality Index of India - Nirvana Being">
            <a:extLst>
              <a:ext uri="{FF2B5EF4-FFF2-40B4-BE49-F238E27FC236}">
                <a16:creationId xmlns:a16="http://schemas.microsoft.com/office/drawing/2014/main" id="{2C9BB862-DAAF-A532-EEB0-44CAC5F47E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264" b="8323"/>
          <a:stretch/>
        </p:blipFill>
        <p:spPr bwMode="auto">
          <a:xfrm>
            <a:off x="2249718" y="2819375"/>
            <a:ext cx="8631211" cy="3828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04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11</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6D35DE05-0A02-5411-91CB-C8638EE7243C}"/>
              </a:ext>
            </a:extLst>
          </p:cNvPr>
          <p:cNvSpPr txBox="1"/>
          <p:nvPr/>
        </p:nvSpPr>
        <p:spPr>
          <a:xfrm>
            <a:off x="540328" y="266611"/>
            <a:ext cx="6101542" cy="923330"/>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Computation and Basis of Sub-index Breakpoints </a:t>
            </a:r>
          </a:p>
          <a:p>
            <a:endParaRPr lang="en-US"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Carbon Mono-oxide (CO)</a:t>
            </a:r>
          </a:p>
        </p:txBody>
      </p:sp>
      <p:pic>
        <p:nvPicPr>
          <p:cNvPr id="5" name="Picture 4">
            <a:extLst>
              <a:ext uri="{FF2B5EF4-FFF2-40B4-BE49-F238E27FC236}">
                <a16:creationId xmlns:a16="http://schemas.microsoft.com/office/drawing/2014/main" id="{04F19822-A88B-B8DA-626D-6EE97A4F3208}"/>
              </a:ext>
            </a:extLst>
          </p:cNvPr>
          <p:cNvPicPr>
            <a:picLocks noChangeAspect="1"/>
          </p:cNvPicPr>
          <p:nvPr/>
        </p:nvPicPr>
        <p:blipFill>
          <a:blip r:embed="rId2"/>
          <a:stretch>
            <a:fillRect/>
          </a:stretch>
        </p:blipFill>
        <p:spPr>
          <a:xfrm>
            <a:off x="838200" y="1481817"/>
            <a:ext cx="10708053" cy="4627210"/>
          </a:xfrm>
          <a:prstGeom prst="rect">
            <a:avLst/>
          </a:prstGeom>
        </p:spPr>
      </p:pic>
    </p:spTree>
    <p:extLst>
      <p:ext uri="{BB962C8B-B14F-4D97-AF65-F5344CB8AC3E}">
        <p14:creationId xmlns:p14="http://schemas.microsoft.com/office/powerpoint/2010/main" val="22409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12</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77359176-6D4D-DED6-9164-1AD8D336763F}"/>
              </a:ext>
            </a:extLst>
          </p:cNvPr>
          <p:cNvSpPr txBox="1"/>
          <p:nvPr/>
        </p:nvSpPr>
        <p:spPr>
          <a:xfrm>
            <a:off x="507077" y="372286"/>
            <a:ext cx="6101542" cy="369332"/>
          </a:xfrm>
          <a:prstGeom prst="rect">
            <a:avLst/>
          </a:prstGeom>
          <a:noFill/>
        </p:spPr>
        <p:txBody>
          <a:bodyPr wrap="square">
            <a:spAutoFit/>
          </a:bodyPr>
          <a:lstStyle/>
          <a:p>
            <a:r>
              <a:rPr lang="en-IN" b="1" dirty="0">
                <a:latin typeface="Arial" panose="020B0604020202020204" pitchFamily="34" charset="0"/>
                <a:cs typeface="Arial" panose="020B0604020202020204" pitchFamily="34" charset="0"/>
              </a:rPr>
              <a:t>Nitrogen Dioxide (NO2</a:t>
            </a:r>
            <a:r>
              <a:rPr lang="en-IN" dirty="0"/>
              <a:t>)</a:t>
            </a:r>
          </a:p>
        </p:txBody>
      </p:sp>
      <p:pic>
        <p:nvPicPr>
          <p:cNvPr id="5" name="Picture 4">
            <a:extLst>
              <a:ext uri="{FF2B5EF4-FFF2-40B4-BE49-F238E27FC236}">
                <a16:creationId xmlns:a16="http://schemas.microsoft.com/office/drawing/2014/main" id="{D3AC9E47-2F5C-23FB-7D9D-F4715887F527}"/>
              </a:ext>
            </a:extLst>
          </p:cNvPr>
          <p:cNvPicPr>
            <a:picLocks noChangeAspect="1"/>
          </p:cNvPicPr>
          <p:nvPr/>
        </p:nvPicPr>
        <p:blipFill>
          <a:blip r:embed="rId2"/>
          <a:stretch>
            <a:fillRect/>
          </a:stretch>
        </p:blipFill>
        <p:spPr>
          <a:xfrm>
            <a:off x="838200" y="843112"/>
            <a:ext cx="10945189" cy="5171775"/>
          </a:xfrm>
          <a:prstGeom prst="rect">
            <a:avLst/>
          </a:prstGeom>
        </p:spPr>
      </p:pic>
    </p:spTree>
    <p:extLst>
      <p:ext uri="{BB962C8B-B14F-4D97-AF65-F5344CB8AC3E}">
        <p14:creationId xmlns:p14="http://schemas.microsoft.com/office/powerpoint/2010/main" val="993948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13</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E013B909-24EB-2AAD-9D33-5FBBCA2A299B}"/>
              </a:ext>
            </a:extLst>
          </p:cNvPr>
          <p:cNvSpPr txBox="1"/>
          <p:nvPr/>
        </p:nvSpPr>
        <p:spPr>
          <a:xfrm>
            <a:off x="507077" y="216734"/>
            <a:ext cx="6101542" cy="338554"/>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Particulate Matter (PM):PM10 and PM2.5</a:t>
            </a:r>
            <a:endParaRPr lang="en-IN" sz="16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8F1ED15-3FBC-A9BB-91B5-B927FCA036B1}"/>
              </a:ext>
            </a:extLst>
          </p:cNvPr>
          <p:cNvPicPr>
            <a:picLocks noChangeAspect="1"/>
          </p:cNvPicPr>
          <p:nvPr/>
        </p:nvPicPr>
        <p:blipFill>
          <a:blip r:embed="rId2"/>
          <a:stretch>
            <a:fillRect/>
          </a:stretch>
        </p:blipFill>
        <p:spPr>
          <a:xfrm>
            <a:off x="698269" y="624821"/>
            <a:ext cx="10570956" cy="5730052"/>
          </a:xfrm>
          <a:prstGeom prst="rect">
            <a:avLst/>
          </a:prstGeom>
        </p:spPr>
      </p:pic>
    </p:spTree>
    <p:extLst>
      <p:ext uri="{BB962C8B-B14F-4D97-AF65-F5344CB8AC3E}">
        <p14:creationId xmlns:p14="http://schemas.microsoft.com/office/powerpoint/2010/main" val="3766888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14</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pic>
        <p:nvPicPr>
          <p:cNvPr id="3" name="Picture 2">
            <a:extLst>
              <a:ext uri="{FF2B5EF4-FFF2-40B4-BE49-F238E27FC236}">
                <a16:creationId xmlns:a16="http://schemas.microsoft.com/office/drawing/2014/main" id="{419FB7C7-977D-E221-F9EF-1F59BBBB9252}"/>
              </a:ext>
            </a:extLst>
          </p:cNvPr>
          <p:cNvPicPr>
            <a:picLocks noChangeAspect="1"/>
          </p:cNvPicPr>
          <p:nvPr/>
        </p:nvPicPr>
        <p:blipFill>
          <a:blip r:embed="rId2"/>
          <a:stretch>
            <a:fillRect/>
          </a:stretch>
        </p:blipFill>
        <p:spPr>
          <a:xfrm>
            <a:off x="1363288" y="598516"/>
            <a:ext cx="9717662" cy="5517746"/>
          </a:xfrm>
          <a:prstGeom prst="rect">
            <a:avLst/>
          </a:prstGeom>
        </p:spPr>
      </p:pic>
    </p:spTree>
    <p:extLst>
      <p:ext uri="{BB962C8B-B14F-4D97-AF65-F5344CB8AC3E}">
        <p14:creationId xmlns:p14="http://schemas.microsoft.com/office/powerpoint/2010/main" val="2706708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15</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pic>
        <p:nvPicPr>
          <p:cNvPr id="3" name="Picture 2">
            <a:extLst>
              <a:ext uri="{FF2B5EF4-FFF2-40B4-BE49-F238E27FC236}">
                <a16:creationId xmlns:a16="http://schemas.microsoft.com/office/drawing/2014/main" id="{3EFCC731-3804-251A-DF01-0FADC7944FC4}"/>
              </a:ext>
            </a:extLst>
          </p:cNvPr>
          <p:cNvPicPr>
            <a:picLocks noChangeAspect="1"/>
          </p:cNvPicPr>
          <p:nvPr/>
        </p:nvPicPr>
        <p:blipFill>
          <a:blip r:embed="rId2"/>
          <a:stretch>
            <a:fillRect/>
          </a:stretch>
        </p:blipFill>
        <p:spPr>
          <a:xfrm>
            <a:off x="838200" y="1262696"/>
            <a:ext cx="10721828" cy="4983226"/>
          </a:xfrm>
          <a:prstGeom prst="rect">
            <a:avLst/>
          </a:prstGeom>
        </p:spPr>
      </p:pic>
      <p:sp>
        <p:nvSpPr>
          <p:cNvPr id="5" name="TextBox 4">
            <a:extLst>
              <a:ext uri="{FF2B5EF4-FFF2-40B4-BE49-F238E27FC236}">
                <a16:creationId xmlns:a16="http://schemas.microsoft.com/office/drawing/2014/main" id="{45DA9A53-BA5C-A6BD-090E-4ACEFD8A7734}"/>
              </a:ext>
            </a:extLst>
          </p:cNvPr>
          <p:cNvSpPr txBox="1"/>
          <p:nvPr/>
        </p:nvSpPr>
        <p:spPr>
          <a:xfrm>
            <a:off x="1021080" y="427412"/>
            <a:ext cx="6101542" cy="338554"/>
          </a:xfrm>
          <a:prstGeom prst="rect">
            <a:avLst/>
          </a:prstGeom>
          <a:noFill/>
        </p:spPr>
        <p:txBody>
          <a:bodyPr wrap="square">
            <a:spAutoFit/>
          </a:bodyPr>
          <a:lstStyle/>
          <a:p>
            <a:r>
              <a:rPr lang="en-IN" sz="1600" b="1" dirty="0"/>
              <a:t>Ozone </a:t>
            </a:r>
          </a:p>
        </p:txBody>
      </p:sp>
    </p:spTree>
    <p:extLst>
      <p:ext uri="{BB962C8B-B14F-4D97-AF65-F5344CB8AC3E}">
        <p14:creationId xmlns:p14="http://schemas.microsoft.com/office/powerpoint/2010/main" val="3774010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16</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B7FC42EC-B664-73FB-63EC-6D73C43522DE}"/>
              </a:ext>
            </a:extLst>
          </p:cNvPr>
          <p:cNvSpPr txBox="1"/>
          <p:nvPr/>
        </p:nvSpPr>
        <p:spPr>
          <a:xfrm>
            <a:off x="573578" y="355661"/>
            <a:ext cx="6101542" cy="338554"/>
          </a:xfrm>
          <a:prstGeom prst="rect">
            <a:avLst/>
          </a:prstGeom>
          <a:noFill/>
        </p:spPr>
        <p:txBody>
          <a:bodyPr wrap="square">
            <a:spAutoFit/>
          </a:bodyPr>
          <a:lstStyle/>
          <a:p>
            <a:r>
              <a:rPr lang="en-IN" sz="1600" b="1" dirty="0">
                <a:latin typeface="Arial" panose="020B0604020202020204" pitchFamily="34" charset="0"/>
                <a:cs typeface="Arial" panose="020B0604020202020204" pitchFamily="34" charset="0"/>
              </a:rPr>
              <a:t>Sulphur Dioxide (SO2) </a:t>
            </a:r>
          </a:p>
        </p:txBody>
      </p:sp>
      <p:pic>
        <p:nvPicPr>
          <p:cNvPr id="5" name="Picture 4">
            <a:extLst>
              <a:ext uri="{FF2B5EF4-FFF2-40B4-BE49-F238E27FC236}">
                <a16:creationId xmlns:a16="http://schemas.microsoft.com/office/drawing/2014/main" id="{8F845361-5C56-2ADF-8E9F-FD0406B58124}"/>
              </a:ext>
            </a:extLst>
          </p:cNvPr>
          <p:cNvPicPr>
            <a:picLocks noChangeAspect="1"/>
          </p:cNvPicPr>
          <p:nvPr/>
        </p:nvPicPr>
        <p:blipFill>
          <a:blip r:embed="rId2"/>
          <a:stretch>
            <a:fillRect/>
          </a:stretch>
        </p:blipFill>
        <p:spPr>
          <a:xfrm>
            <a:off x="573578" y="823853"/>
            <a:ext cx="11009575" cy="5210293"/>
          </a:xfrm>
          <a:prstGeom prst="rect">
            <a:avLst/>
          </a:prstGeom>
        </p:spPr>
      </p:pic>
    </p:spTree>
    <p:extLst>
      <p:ext uri="{BB962C8B-B14F-4D97-AF65-F5344CB8AC3E}">
        <p14:creationId xmlns:p14="http://schemas.microsoft.com/office/powerpoint/2010/main" val="3331520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17</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E7E9B730-40F7-EF1D-A79C-53925C88846B}"/>
              </a:ext>
            </a:extLst>
          </p:cNvPr>
          <p:cNvSpPr txBox="1"/>
          <p:nvPr/>
        </p:nvSpPr>
        <p:spPr>
          <a:xfrm>
            <a:off x="725978" y="422163"/>
            <a:ext cx="3114502" cy="369332"/>
          </a:xfrm>
          <a:prstGeom prst="rect">
            <a:avLst/>
          </a:prstGeom>
          <a:noFill/>
        </p:spPr>
        <p:txBody>
          <a:bodyPr wrap="square">
            <a:spAutoFit/>
          </a:bodyPr>
          <a:lstStyle/>
          <a:p>
            <a:r>
              <a:rPr lang="en-IN" dirty="0"/>
              <a:t>Pb and NH3</a:t>
            </a:r>
          </a:p>
        </p:txBody>
      </p:sp>
      <p:pic>
        <p:nvPicPr>
          <p:cNvPr id="5" name="Picture 4">
            <a:extLst>
              <a:ext uri="{FF2B5EF4-FFF2-40B4-BE49-F238E27FC236}">
                <a16:creationId xmlns:a16="http://schemas.microsoft.com/office/drawing/2014/main" id="{D745633F-A6CF-DE7D-E345-344228C12A45}"/>
              </a:ext>
            </a:extLst>
          </p:cNvPr>
          <p:cNvPicPr>
            <a:picLocks noChangeAspect="1"/>
          </p:cNvPicPr>
          <p:nvPr/>
        </p:nvPicPr>
        <p:blipFill>
          <a:blip r:embed="rId2"/>
          <a:stretch>
            <a:fillRect/>
          </a:stretch>
        </p:blipFill>
        <p:spPr>
          <a:xfrm>
            <a:off x="2110480" y="1051789"/>
            <a:ext cx="6508000" cy="4754421"/>
          </a:xfrm>
          <a:prstGeom prst="rect">
            <a:avLst/>
          </a:prstGeom>
        </p:spPr>
      </p:pic>
    </p:spTree>
    <p:extLst>
      <p:ext uri="{BB962C8B-B14F-4D97-AF65-F5344CB8AC3E}">
        <p14:creationId xmlns:p14="http://schemas.microsoft.com/office/powerpoint/2010/main" val="3980188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18</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pic>
        <p:nvPicPr>
          <p:cNvPr id="3" name="Picture 2">
            <a:extLst>
              <a:ext uri="{FF2B5EF4-FFF2-40B4-BE49-F238E27FC236}">
                <a16:creationId xmlns:a16="http://schemas.microsoft.com/office/drawing/2014/main" id="{6F3462BE-26C1-5603-4F4A-8B42A03461BD}"/>
              </a:ext>
            </a:extLst>
          </p:cNvPr>
          <p:cNvPicPr>
            <a:picLocks noChangeAspect="1"/>
          </p:cNvPicPr>
          <p:nvPr/>
        </p:nvPicPr>
        <p:blipFill>
          <a:blip r:embed="rId2"/>
          <a:stretch>
            <a:fillRect/>
          </a:stretch>
        </p:blipFill>
        <p:spPr>
          <a:xfrm>
            <a:off x="539056" y="455538"/>
            <a:ext cx="10730170" cy="5180492"/>
          </a:xfrm>
          <a:prstGeom prst="rect">
            <a:avLst/>
          </a:prstGeom>
        </p:spPr>
      </p:pic>
      <p:sp>
        <p:nvSpPr>
          <p:cNvPr id="5" name="TextBox 4">
            <a:extLst>
              <a:ext uri="{FF2B5EF4-FFF2-40B4-BE49-F238E27FC236}">
                <a16:creationId xmlns:a16="http://schemas.microsoft.com/office/drawing/2014/main" id="{018FC470-B229-FB94-5CE3-5C8E3FA7CD28}"/>
              </a:ext>
            </a:extLst>
          </p:cNvPr>
          <p:cNvSpPr txBox="1"/>
          <p:nvPr/>
        </p:nvSpPr>
        <p:spPr>
          <a:xfrm>
            <a:off x="1371600" y="5636030"/>
            <a:ext cx="9734204" cy="646331"/>
          </a:xfrm>
          <a:prstGeom prst="rect">
            <a:avLst/>
          </a:prstGeom>
          <a:noFill/>
        </p:spPr>
        <p:txBody>
          <a:bodyPr wrap="square">
            <a:spAutoFit/>
          </a:bodyPr>
          <a:lstStyle/>
          <a:p>
            <a:r>
              <a:rPr lang="en-US" dirty="0"/>
              <a:t>CPCB may consider reviewing the AQI breakpoints every three years after accounting the new research findings on air pollution exposure and health effects. </a:t>
            </a:r>
            <a:endParaRPr lang="en-IN" dirty="0"/>
          </a:p>
        </p:txBody>
      </p:sp>
    </p:spTree>
    <p:extLst>
      <p:ext uri="{BB962C8B-B14F-4D97-AF65-F5344CB8AC3E}">
        <p14:creationId xmlns:p14="http://schemas.microsoft.com/office/powerpoint/2010/main" val="811162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19</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pic>
        <p:nvPicPr>
          <p:cNvPr id="3" name="Picture 2">
            <a:extLst>
              <a:ext uri="{FF2B5EF4-FFF2-40B4-BE49-F238E27FC236}">
                <a16:creationId xmlns:a16="http://schemas.microsoft.com/office/drawing/2014/main" id="{F26F841A-0E57-9C18-99D6-9CDCD787F2C6}"/>
              </a:ext>
            </a:extLst>
          </p:cNvPr>
          <p:cNvPicPr>
            <a:picLocks noChangeAspect="1"/>
          </p:cNvPicPr>
          <p:nvPr/>
        </p:nvPicPr>
        <p:blipFill>
          <a:blip r:embed="rId2"/>
          <a:stretch>
            <a:fillRect/>
          </a:stretch>
        </p:blipFill>
        <p:spPr>
          <a:xfrm>
            <a:off x="698270" y="210208"/>
            <a:ext cx="10846760" cy="6004251"/>
          </a:xfrm>
          <a:prstGeom prst="rect">
            <a:avLst/>
          </a:prstGeom>
        </p:spPr>
      </p:pic>
    </p:spTree>
    <p:extLst>
      <p:ext uri="{BB962C8B-B14F-4D97-AF65-F5344CB8AC3E}">
        <p14:creationId xmlns:p14="http://schemas.microsoft.com/office/powerpoint/2010/main" val="3029397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20</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pic>
        <p:nvPicPr>
          <p:cNvPr id="5" name="Picture 4">
            <a:extLst>
              <a:ext uri="{FF2B5EF4-FFF2-40B4-BE49-F238E27FC236}">
                <a16:creationId xmlns:a16="http://schemas.microsoft.com/office/drawing/2014/main" id="{36254383-7392-1BF0-9497-C8DEBF65B680}"/>
              </a:ext>
            </a:extLst>
          </p:cNvPr>
          <p:cNvPicPr>
            <a:picLocks noChangeAspect="1"/>
          </p:cNvPicPr>
          <p:nvPr/>
        </p:nvPicPr>
        <p:blipFill>
          <a:blip r:embed="rId2"/>
          <a:stretch>
            <a:fillRect/>
          </a:stretch>
        </p:blipFill>
        <p:spPr>
          <a:xfrm>
            <a:off x="838200" y="826249"/>
            <a:ext cx="9552709" cy="5205501"/>
          </a:xfrm>
          <a:prstGeom prst="rect">
            <a:avLst/>
          </a:prstGeom>
        </p:spPr>
      </p:pic>
    </p:spTree>
    <p:extLst>
      <p:ext uri="{BB962C8B-B14F-4D97-AF65-F5344CB8AC3E}">
        <p14:creationId xmlns:p14="http://schemas.microsoft.com/office/powerpoint/2010/main" val="1254247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9FC30-DAC3-D33F-D489-0F5EEE7C7125}"/>
              </a:ext>
            </a:extLst>
          </p:cNvPr>
          <p:cNvSpPr>
            <a:spLocks noGrp="1"/>
          </p:cNvSpPr>
          <p:nvPr>
            <p:ph type="title"/>
          </p:nvPr>
        </p:nvSpPr>
        <p:spPr>
          <a:xfrm>
            <a:off x="4916488" y="457200"/>
            <a:ext cx="6932612" cy="712840"/>
          </a:xfrm>
        </p:spPr>
        <p:txBody>
          <a:bodyPr/>
          <a:lstStyle/>
          <a:p>
            <a:r>
              <a:rPr lang="en-US" sz="3600" dirty="0"/>
              <a:t>Data preprocessing steps:</a:t>
            </a:r>
            <a:endParaRPr lang="en-IN" sz="3600" dirty="0"/>
          </a:p>
        </p:txBody>
      </p:sp>
      <p:pic>
        <p:nvPicPr>
          <p:cNvPr id="22" name="Picture Placeholder 21">
            <a:extLst>
              <a:ext uri="{FF2B5EF4-FFF2-40B4-BE49-F238E27FC236}">
                <a16:creationId xmlns:a16="http://schemas.microsoft.com/office/drawing/2014/main" id="{2866D31F-D900-4ACD-CE74-76182875B83F}"/>
              </a:ext>
            </a:extLst>
          </p:cNvPr>
          <p:cNvPicPr>
            <a:picLocks noGrp="1" noChangeAspect="1"/>
          </p:cNvPicPr>
          <p:nvPr>
            <p:ph type="pic" sz="quarter" idx="24"/>
          </p:nvPr>
        </p:nvPicPr>
        <p:blipFill>
          <a:blip r:embed="rId2"/>
          <a:srcRect l="89" r="89"/>
          <a:stretch>
            <a:fillRect/>
          </a:stretch>
        </p:blipFill>
        <p:spPr>
          <a:xfrm>
            <a:off x="1420936" y="466999"/>
            <a:ext cx="732330" cy="733640"/>
          </a:xfrm>
        </p:spPr>
      </p:pic>
      <p:sp>
        <p:nvSpPr>
          <p:cNvPr id="4" name="Text Placeholder 3">
            <a:extLst>
              <a:ext uri="{FF2B5EF4-FFF2-40B4-BE49-F238E27FC236}">
                <a16:creationId xmlns:a16="http://schemas.microsoft.com/office/drawing/2014/main" id="{526367B2-2187-DC68-7015-AF411DDD366E}"/>
              </a:ext>
            </a:extLst>
          </p:cNvPr>
          <p:cNvSpPr>
            <a:spLocks noGrp="1"/>
          </p:cNvSpPr>
          <p:nvPr>
            <p:ph type="body" sz="quarter" idx="39"/>
          </p:nvPr>
        </p:nvSpPr>
        <p:spPr/>
        <p:txBody>
          <a:bodyPr/>
          <a:lstStyle/>
          <a:p>
            <a:r>
              <a:rPr lang="en-IN" dirty="0"/>
              <a:t>Data Cleaning</a:t>
            </a:r>
          </a:p>
        </p:txBody>
      </p:sp>
      <p:sp>
        <p:nvSpPr>
          <p:cNvPr id="5" name="Text Placeholder 4">
            <a:extLst>
              <a:ext uri="{FF2B5EF4-FFF2-40B4-BE49-F238E27FC236}">
                <a16:creationId xmlns:a16="http://schemas.microsoft.com/office/drawing/2014/main" id="{EFA2D949-D263-CEB2-4D17-30AEC1E22053}"/>
              </a:ext>
            </a:extLst>
          </p:cNvPr>
          <p:cNvSpPr>
            <a:spLocks noGrp="1"/>
          </p:cNvSpPr>
          <p:nvPr>
            <p:ph type="body" sz="quarter" idx="38"/>
          </p:nvPr>
        </p:nvSpPr>
        <p:spPr/>
        <p:txBody>
          <a:bodyPr/>
          <a:lstStyle/>
          <a:p>
            <a:r>
              <a:rPr lang="en-US" sz="1200" dirty="0"/>
              <a:t>Remove or fill in missing or inconsistent data points to ensure the dataset is complete and ready for analysis.</a:t>
            </a:r>
            <a:endParaRPr lang="en-IN" sz="1200" dirty="0"/>
          </a:p>
        </p:txBody>
      </p:sp>
      <p:pic>
        <p:nvPicPr>
          <p:cNvPr id="24" name="Picture Placeholder 23">
            <a:extLst>
              <a:ext uri="{FF2B5EF4-FFF2-40B4-BE49-F238E27FC236}">
                <a16:creationId xmlns:a16="http://schemas.microsoft.com/office/drawing/2014/main" id="{327CA92C-0014-3F56-49A1-205A02CD6FB0}"/>
              </a:ext>
            </a:extLst>
          </p:cNvPr>
          <p:cNvPicPr>
            <a:picLocks noGrp="1" noChangeAspect="1"/>
          </p:cNvPicPr>
          <p:nvPr>
            <p:ph type="pic" sz="quarter" idx="40"/>
          </p:nvPr>
        </p:nvPicPr>
        <p:blipFill>
          <a:blip r:embed="rId3"/>
          <a:srcRect l="89" r="89"/>
          <a:stretch>
            <a:fillRect/>
          </a:stretch>
        </p:blipFill>
        <p:spPr>
          <a:xfrm>
            <a:off x="3458966" y="2484454"/>
            <a:ext cx="758834" cy="760191"/>
          </a:xfrm>
        </p:spPr>
      </p:pic>
      <p:sp>
        <p:nvSpPr>
          <p:cNvPr id="7" name="Text Placeholder 6">
            <a:extLst>
              <a:ext uri="{FF2B5EF4-FFF2-40B4-BE49-F238E27FC236}">
                <a16:creationId xmlns:a16="http://schemas.microsoft.com/office/drawing/2014/main" id="{312085C3-4B8E-4965-3246-AD17C426E895}"/>
              </a:ext>
            </a:extLst>
          </p:cNvPr>
          <p:cNvSpPr>
            <a:spLocks noGrp="1"/>
          </p:cNvSpPr>
          <p:nvPr>
            <p:ph type="body" sz="quarter" idx="42"/>
          </p:nvPr>
        </p:nvSpPr>
        <p:spPr/>
        <p:txBody>
          <a:bodyPr/>
          <a:lstStyle/>
          <a:p>
            <a:r>
              <a:rPr lang="en-IN" dirty="0"/>
              <a:t>Feature Selection</a:t>
            </a:r>
          </a:p>
        </p:txBody>
      </p:sp>
      <p:sp>
        <p:nvSpPr>
          <p:cNvPr id="8" name="Text Placeholder 7">
            <a:extLst>
              <a:ext uri="{FF2B5EF4-FFF2-40B4-BE49-F238E27FC236}">
                <a16:creationId xmlns:a16="http://schemas.microsoft.com/office/drawing/2014/main" id="{B9CB8B5B-5516-FADE-57FC-52A1E639219A}"/>
              </a:ext>
            </a:extLst>
          </p:cNvPr>
          <p:cNvSpPr>
            <a:spLocks noGrp="1"/>
          </p:cNvSpPr>
          <p:nvPr>
            <p:ph type="body" sz="quarter" idx="41"/>
          </p:nvPr>
        </p:nvSpPr>
        <p:spPr>
          <a:xfrm>
            <a:off x="4446156" y="2947712"/>
            <a:ext cx="2760889" cy="750760"/>
          </a:xfrm>
        </p:spPr>
        <p:txBody>
          <a:bodyPr/>
          <a:lstStyle/>
          <a:p>
            <a:r>
              <a:rPr lang="en-US" sz="1200" dirty="0"/>
              <a:t>Identify the most important variables (e.g., pollutants like PM2.5, PM10, and weather conditions) that contribute to AQI prediction, and remove less relevant features</a:t>
            </a:r>
            <a:r>
              <a:rPr lang="en-US" dirty="0"/>
              <a:t>.</a:t>
            </a:r>
            <a:endParaRPr lang="en-IN" dirty="0"/>
          </a:p>
        </p:txBody>
      </p:sp>
      <p:pic>
        <p:nvPicPr>
          <p:cNvPr id="26" name="Picture Placeholder 25">
            <a:extLst>
              <a:ext uri="{FF2B5EF4-FFF2-40B4-BE49-F238E27FC236}">
                <a16:creationId xmlns:a16="http://schemas.microsoft.com/office/drawing/2014/main" id="{F8200690-AED4-A9BC-F506-6220DCCA2066}"/>
              </a:ext>
            </a:extLst>
          </p:cNvPr>
          <p:cNvPicPr>
            <a:picLocks noGrp="1" noChangeAspect="1"/>
          </p:cNvPicPr>
          <p:nvPr>
            <p:ph type="pic" sz="quarter" idx="43"/>
          </p:nvPr>
        </p:nvPicPr>
        <p:blipFill>
          <a:blip r:embed="rId4"/>
          <a:srcRect l="89" r="89"/>
          <a:stretch>
            <a:fillRect/>
          </a:stretch>
        </p:blipFill>
        <p:spPr>
          <a:xfrm>
            <a:off x="8030969" y="2484454"/>
            <a:ext cx="711568" cy="712840"/>
          </a:xfrm>
        </p:spPr>
      </p:pic>
      <p:sp>
        <p:nvSpPr>
          <p:cNvPr id="10" name="Text Placeholder 9">
            <a:extLst>
              <a:ext uri="{FF2B5EF4-FFF2-40B4-BE49-F238E27FC236}">
                <a16:creationId xmlns:a16="http://schemas.microsoft.com/office/drawing/2014/main" id="{6423A7D2-0811-4992-FF09-80234B0B7B94}"/>
              </a:ext>
            </a:extLst>
          </p:cNvPr>
          <p:cNvSpPr>
            <a:spLocks noGrp="1"/>
          </p:cNvSpPr>
          <p:nvPr>
            <p:ph type="body" sz="quarter" idx="45"/>
          </p:nvPr>
        </p:nvSpPr>
        <p:spPr/>
        <p:txBody>
          <a:bodyPr/>
          <a:lstStyle/>
          <a:p>
            <a:r>
              <a:rPr lang="en-IN" dirty="0"/>
              <a:t>Normalization</a:t>
            </a:r>
          </a:p>
        </p:txBody>
      </p:sp>
      <p:sp>
        <p:nvSpPr>
          <p:cNvPr id="11" name="Text Placeholder 10">
            <a:extLst>
              <a:ext uri="{FF2B5EF4-FFF2-40B4-BE49-F238E27FC236}">
                <a16:creationId xmlns:a16="http://schemas.microsoft.com/office/drawing/2014/main" id="{61680715-F310-2070-5F5B-0F8FB55D9B2F}"/>
              </a:ext>
            </a:extLst>
          </p:cNvPr>
          <p:cNvSpPr>
            <a:spLocks noGrp="1"/>
          </p:cNvSpPr>
          <p:nvPr>
            <p:ph type="body" sz="quarter" idx="44"/>
          </p:nvPr>
        </p:nvSpPr>
        <p:spPr>
          <a:xfrm>
            <a:off x="9018159" y="2947712"/>
            <a:ext cx="2138339" cy="710144"/>
          </a:xfrm>
        </p:spPr>
        <p:txBody>
          <a:bodyPr/>
          <a:lstStyle/>
          <a:p>
            <a:r>
              <a:rPr lang="en-US" sz="1200" dirty="0"/>
              <a:t>Scale the data so that all features have comparable ranges, improving the performance of machine learning algorithms</a:t>
            </a:r>
            <a:r>
              <a:rPr lang="en-US" dirty="0"/>
              <a:t>.</a:t>
            </a:r>
            <a:endParaRPr lang="en-IN" dirty="0"/>
          </a:p>
        </p:txBody>
      </p:sp>
      <p:pic>
        <p:nvPicPr>
          <p:cNvPr id="28" name="Picture Placeholder 27">
            <a:extLst>
              <a:ext uri="{FF2B5EF4-FFF2-40B4-BE49-F238E27FC236}">
                <a16:creationId xmlns:a16="http://schemas.microsoft.com/office/drawing/2014/main" id="{D8E56FCE-8244-7A53-690C-D267D7B639C6}"/>
              </a:ext>
            </a:extLst>
          </p:cNvPr>
          <p:cNvPicPr>
            <a:picLocks noGrp="1" noChangeAspect="1"/>
          </p:cNvPicPr>
          <p:nvPr>
            <p:ph type="pic" sz="quarter" idx="46"/>
          </p:nvPr>
        </p:nvPicPr>
        <p:blipFill>
          <a:blip r:embed="rId5"/>
          <a:srcRect l="89" r="89"/>
          <a:stretch>
            <a:fillRect/>
          </a:stretch>
        </p:blipFill>
        <p:spPr>
          <a:xfrm>
            <a:off x="1420936" y="4162153"/>
            <a:ext cx="887413" cy="889000"/>
          </a:xfrm>
        </p:spPr>
      </p:pic>
      <p:sp>
        <p:nvSpPr>
          <p:cNvPr id="13" name="Text Placeholder 12">
            <a:extLst>
              <a:ext uri="{FF2B5EF4-FFF2-40B4-BE49-F238E27FC236}">
                <a16:creationId xmlns:a16="http://schemas.microsoft.com/office/drawing/2014/main" id="{BF758ECB-D1FA-96D1-9CFD-1AD21FD463BA}"/>
              </a:ext>
            </a:extLst>
          </p:cNvPr>
          <p:cNvSpPr>
            <a:spLocks noGrp="1"/>
          </p:cNvSpPr>
          <p:nvPr>
            <p:ph type="body" sz="quarter" idx="48"/>
          </p:nvPr>
        </p:nvSpPr>
        <p:spPr/>
        <p:txBody>
          <a:bodyPr/>
          <a:lstStyle/>
          <a:p>
            <a:r>
              <a:rPr lang="en-IN" dirty="0"/>
              <a:t>Handling Outliers</a:t>
            </a:r>
          </a:p>
        </p:txBody>
      </p:sp>
      <p:sp>
        <p:nvSpPr>
          <p:cNvPr id="14" name="Text Placeholder 13">
            <a:extLst>
              <a:ext uri="{FF2B5EF4-FFF2-40B4-BE49-F238E27FC236}">
                <a16:creationId xmlns:a16="http://schemas.microsoft.com/office/drawing/2014/main" id="{D01D072B-C63D-302E-A016-94AFCDAD3979}"/>
              </a:ext>
            </a:extLst>
          </p:cNvPr>
          <p:cNvSpPr>
            <a:spLocks noGrp="1"/>
          </p:cNvSpPr>
          <p:nvPr>
            <p:ph type="body" sz="quarter" idx="47"/>
          </p:nvPr>
        </p:nvSpPr>
        <p:spPr>
          <a:xfrm>
            <a:off x="2574051" y="4665042"/>
            <a:ext cx="2138339" cy="673874"/>
          </a:xfrm>
        </p:spPr>
        <p:txBody>
          <a:bodyPr/>
          <a:lstStyle/>
          <a:p>
            <a:r>
              <a:rPr lang="en-US" sz="1200" dirty="0"/>
              <a:t>Detect and address extreme values (outliers) that could distort the model’s learning process</a:t>
            </a:r>
            <a:r>
              <a:rPr lang="en-US" dirty="0"/>
              <a:t>.</a:t>
            </a:r>
            <a:endParaRPr lang="en-IN" dirty="0"/>
          </a:p>
        </p:txBody>
      </p:sp>
      <p:pic>
        <p:nvPicPr>
          <p:cNvPr id="30" name="Picture Placeholder 29">
            <a:extLst>
              <a:ext uri="{FF2B5EF4-FFF2-40B4-BE49-F238E27FC236}">
                <a16:creationId xmlns:a16="http://schemas.microsoft.com/office/drawing/2014/main" id="{63D5AF51-1A4F-4A96-86D5-6F85DD26B42E}"/>
              </a:ext>
            </a:extLst>
          </p:cNvPr>
          <p:cNvPicPr>
            <a:picLocks noGrp="1" noChangeAspect="1"/>
          </p:cNvPicPr>
          <p:nvPr>
            <p:ph type="pic" sz="quarter" idx="49"/>
          </p:nvPr>
        </p:nvPicPr>
        <p:blipFill>
          <a:blip r:embed="rId6"/>
          <a:srcRect l="89" r="89"/>
          <a:stretch>
            <a:fillRect/>
          </a:stretch>
        </p:blipFill>
        <p:spPr>
          <a:xfrm>
            <a:off x="6096000" y="4162153"/>
            <a:ext cx="887413" cy="889000"/>
          </a:xfrm>
        </p:spPr>
      </p:pic>
      <p:sp>
        <p:nvSpPr>
          <p:cNvPr id="16" name="Text Placeholder 15">
            <a:extLst>
              <a:ext uri="{FF2B5EF4-FFF2-40B4-BE49-F238E27FC236}">
                <a16:creationId xmlns:a16="http://schemas.microsoft.com/office/drawing/2014/main" id="{07D8257F-0E42-0F58-F69A-F7070BE614D9}"/>
              </a:ext>
            </a:extLst>
          </p:cNvPr>
          <p:cNvSpPr>
            <a:spLocks noGrp="1"/>
          </p:cNvSpPr>
          <p:nvPr>
            <p:ph type="body" sz="quarter" idx="51"/>
          </p:nvPr>
        </p:nvSpPr>
        <p:spPr>
          <a:xfrm>
            <a:off x="6983413" y="4144683"/>
            <a:ext cx="2138339" cy="299767"/>
          </a:xfrm>
        </p:spPr>
        <p:txBody>
          <a:bodyPr/>
          <a:lstStyle/>
          <a:p>
            <a:r>
              <a:rPr lang="en-IN" dirty="0"/>
              <a:t>Train-Test Split</a:t>
            </a:r>
          </a:p>
        </p:txBody>
      </p:sp>
      <p:sp>
        <p:nvSpPr>
          <p:cNvPr id="17" name="Text Placeholder 16">
            <a:extLst>
              <a:ext uri="{FF2B5EF4-FFF2-40B4-BE49-F238E27FC236}">
                <a16:creationId xmlns:a16="http://schemas.microsoft.com/office/drawing/2014/main" id="{6AD9525D-6DCB-E1B1-29DC-AB6E5F4B885C}"/>
              </a:ext>
            </a:extLst>
          </p:cNvPr>
          <p:cNvSpPr>
            <a:spLocks noGrp="1"/>
          </p:cNvSpPr>
          <p:nvPr>
            <p:ph type="body" sz="quarter" idx="50"/>
          </p:nvPr>
        </p:nvSpPr>
        <p:spPr>
          <a:xfrm>
            <a:off x="7030065" y="4548690"/>
            <a:ext cx="2281083" cy="710144"/>
          </a:xfrm>
        </p:spPr>
        <p:txBody>
          <a:bodyPr/>
          <a:lstStyle/>
          <a:p>
            <a:r>
              <a:rPr lang="en-US" sz="1200" dirty="0"/>
              <a:t>Divide the dataset into training and testing sets to evaluate the model’s performance on unseen data.</a:t>
            </a:r>
            <a:endParaRPr lang="en-IN" sz="1200" dirty="0"/>
          </a:p>
        </p:txBody>
      </p:sp>
      <p:pic>
        <p:nvPicPr>
          <p:cNvPr id="32" name="Picture Placeholder 31">
            <a:extLst>
              <a:ext uri="{FF2B5EF4-FFF2-40B4-BE49-F238E27FC236}">
                <a16:creationId xmlns:a16="http://schemas.microsoft.com/office/drawing/2014/main" id="{CF812499-B8D2-CC76-7B53-D0806E3FEC02}"/>
              </a:ext>
            </a:extLst>
          </p:cNvPr>
          <p:cNvPicPr>
            <a:picLocks noGrp="1" noChangeAspect="1"/>
          </p:cNvPicPr>
          <p:nvPr>
            <p:ph type="pic" sz="quarter" idx="52"/>
          </p:nvPr>
        </p:nvPicPr>
        <p:blipFill>
          <a:blip r:embed="rId7"/>
          <a:srcRect l="89" r="89"/>
          <a:stretch>
            <a:fillRect/>
          </a:stretch>
        </p:blipFill>
        <p:spPr>
          <a:xfrm>
            <a:off x="8027988" y="5637179"/>
            <a:ext cx="762258" cy="763621"/>
          </a:xfrm>
        </p:spPr>
      </p:pic>
      <p:sp>
        <p:nvSpPr>
          <p:cNvPr id="19" name="Text Placeholder 18">
            <a:extLst>
              <a:ext uri="{FF2B5EF4-FFF2-40B4-BE49-F238E27FC236}">
                <a16:creationId xmlns:a16="http://schemas.microsoft.com/office/drawing/2014/main" id="{37C52BA6-81A7-15EC-3903-D1AAD2F4C8D2}"/>
              </a:ext>
            </a:extLst>
          </p:cNvPr>
          <p:cNvSpPr>
            <a:spLocks noGrp="1"/>
          </p:cNvSpPr>
          <p:nvPr>
            <p:ph type="body" sz="quarter" idx="54"/>
          </p:nvPr>
        </p:nvSpPr>
        <p:spPr>
          <a:xfrm>
            <a:off x="9018159" y="5469834"/>
            <a:ext cx="2537725" cy="201861"/>
          </a:xfrm>
        </p:spPr>
        <p:txBody>
          <a:bodyPr/>
          <a:lstStyle/>
          <a:p>
            <a:r>
              <a:rPr lang="en-IN" dirty="0"/>
              <a:t>Data Transformation</a:t>
            </a:r>
          </a:p>
        </p:txBody>
      </p:sp>
      <p:sp>
        <p:nvSpPr>
          <p:cNvPr id="20" name="Text Placeholder 19">
            <a:extLst>
              <a:ext uri="{FF2B5EF4-FFF2-40B4-BE49-F238E27FC236}">
                <a16:creationId xmlns:a16="http://schemas.microsoft.com/office/drawing/2014/main" id="{63E1E641-652E-B4CB-73C2-EDFD598D0E22}"/>
              </a:ext>
            </a:extLst>
          </p:cNvPr>
          <p:cNvSpPr>
            <a:spLocks noGrp="1"/>
          </p:cNvSpPr>
          <p:nvPr>
            <p:ph type="body" sz="quarter" idx="53"/>
          </p:nvPr>
        </p:nvSpPr>
        <p:spPr>
          <a:xfrm>
            <a:off x="8853133" y="5820955"/>
            <a:ext cx="3100668" cy="601662"/>
          </a:xfrm>
        </p:spPr>
        <p:txBody>
          <a:bodyPr/>
          <a:lstStyle/>
          <a:p>
            <a:r>
              <a:rPr lang="en-US" sz="1200" dirty="0"/>
              <a:t>Apply techniques like encoding categorical variables or creating new features from existing ones to enhance the dataset's usability and relevance for the model.</a:t>
            </a:r>
            <a:endParaRPr lang="en-IN" sz="1200" dirty="0"/>
          </a:p>
        </p:txBody>
      </p:sp>
    </p:spTree>
    <p:extLst>
      <p:ext uri="{BB962C8B-B14F-4D97-AF65-F5344CB8AC3E}">
        <p14:creationId xmlns:p14="http://schemas.microsoft.com/office/powerpoint/2010/main" val="113956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anim calcmode="lin" valueType="num">
                                      <p:cBhvr>
                                        <p:cTn id="1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1000"/>
                                        <p:tgtEl>
                                          <p:spTgt spid="5">
                                            <p:txEl>
                                              <p:pRg st="0" end="0"/>
                                            </p:txEl>
                                          </p:spTgt>
                                        </p:tgtEl>
                                      </p:cBhvr>
                                    </p:animEffect>
                                    <p:anim calcmode="lin" valueType="num">
                                      <p:cBhvr>
                                        <p:cTn id="1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42" presetClass="entr" presetSubtype="0" fill="hold" grpId="0" nodeType="with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1000"/>
                                        <p:tgtEl>
                                          <p:spTgt spid="7">
                                            <p:txEl>
                                              <p:pRg st="0" end="0"/>
                                            </p:txEl>
                                          </p:spTgt>
                                        </p:tgtEl>
                                      </p:cBhvr>
                                    </p:animEffect>
                                    <p:anim calcmode="lin" valueType="num">
                                      <p:cBhvr>
                                        <p:cTn id="2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8">
                                            <p:txEl>
                                              <p:pRg st="0" end="0"/>
                                            </p:txEl>
                                          </p:spTgt>
                                        </p:tgtEl>
                                        <p:attrNameLst>
                                          <p:attrName>style.visibility</p:attrName>
                                        </p:attrNameLst>
                                      </p:cBhvr>
                                      <p:to>
                                        <p:strVal val="visible"/>
                                      </p:to>
                                    </p:set>
                                    <p:animEffect transition="in" filter="fade">
                                      <p:cBhvr>
                                        <p:cTn id="30" dur="1000"/>
                                        <p:tgtEl>
                                          <p:spTgt spid="8">
                                            <p:txEl>
                                              <p:pRg st="0" end="0"/>
                                            </p:txEl>
                                          </p:spTgt>
                                        </p:tgtEl>
                                      </p:cBhvr>
                                    </p:animEffect>
                                    <p:anim calcmode="lin" valueType="num">
                                      <p:cBhvr>
                                        <p:cTn id="31"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2"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500"/>
                                        <p:tgtEl>
                                          <p:spTgt spid="26"/>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fade">
                                      <p:cBhvr>
                                        <p:cTn id="40" dur="1000"/>
                                        <p:tgtEl>
                                          <p:spTgt spid="10">
                                            <p:txEl>
                                              <p:pRg st="0" end="0"/>
                                            </p:txEl>
                                          </p:spTgt>
                                        </p:tgtEl>
                                      </p:cBhvr>
                                    </p:animEffect>
                                    <p:anim calcmode="lin" valueType="num">
                                      <p:cBhvr>
                                        <p:cTn id="41"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fade">
                                      <p:cBhvr>
                                        <p:cTn id="45" dur="1000"/>
                                        <p:tgtEl>
                                          <p:spTgt spid="11">
                                            <p:txEl>
                                              <p:pRg st="0" end="0"/>
                                            </p:txEl>
                                          </p:spTgt>
                                        </p:tgtEl>
                                      </p:cBhvr>
                                    </p:animEffect>
                                    <p:anim calcmode="lin" valueType="num">
                                      <p:cBhvr>
                                        <p:cTn id="46"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par>
                                <p:cTn id="53" presetID="42" presetClass="entr" presetSubtype="0" fill="hold" grpId="0" nodeType="withEffect">
                                  <p:stCondLst>
                                    <p:cond delay="0"/>
                                  </p:stCondLst>
                                  <p:childTnLst>
                                    <p:set>
                                      <p:cBhvr>
                                        <p:cTn id="54" dur="1" fill="hold">
                                          <p:stCondLst>
                                            <p:cond delay="0"/>
                                          </p:stCondLst>
                                        </p:cTn>
                                        <p:tgtEl>
                                          <p:spTgt spid="13">
                                            <p:txEl>
                                              <p:pRg st="0" end="0"/>
                                            </p:txEl>
                                          </p:spTgt>
                                        </p:tgtEl>
                                        <p:attrNameLst>
                                          <p:attrName>style.visibility</p:attrName>
                                        </p:attrNameLst>
                                      </p:cBhvr>
                                      <p:to>
                                        <p:strVal val="visible"/>
                                      </p:to>
                                    </p:set>
                                    <p:animEffect transition="in" filter="fade">
                                      <p:cBhvr>
                                        <p:cTn id="55" dur="1000"/>
                                        <p:tgtEl>
                                          <p:spTgt spid="13">
                                            <p:txEl>
                                              <p:pRg st="0" end="0"/>
                                            </p:txEl>
                                          </p:spTgt>
                                        </p:tgtEl>
                                      </p:cBhvr>
                                    </p:animEffect>
                                    <p:anim calcmode="lin" valueType="num">
                                      <p:cBhvr>
                                        <p:cTn id="56"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4">
                                            <p:txEl>
                                              <p:pRg st="0" end="0"/>
                                            </p:txEl>
                                          </p:spTgt>
                                        </p:tgtEl>
                                        <p:attrNameLst>
                                          <p:attrName>style.visibility</p:attrName>
                                        </p:attrNameLst>
                                      </p:cBhvr>
                                      <p:to>
                                        <p:strVal val="visible"/>
                                      </p:to>
                                    </p:set>
                                    <p:animEffect transition="in" filter="fade">
                                      <p:cBhvr>
                                        <p:cTn id="60" dur="1000"/>
                                        <p:tgtEl>
                                          <p:spTgt spid="14">
                                            <p:txEl>
                                              <p:pRg st="0" end="0"/>
                                            </p:txEl>
                                          </p:spTgt>
                                        </p:tgtEl>
                                      </p:cBhvr>
                                    </p:animEffect>
                                    <p:anim calcmode="lin" valueType="num">
                                      <p:cBhvr>
                                        <p:cTn id="6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62"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down)">
                                      <p:cBhvr>
                                        <p:cTn id="67" dur="500"/>
                                        <p:tgtEl>
                                          <p:spTgt spid="30"/>
                                        </p:tgtEl>
                                      </p:cBhvr>
                                    </p:animEffect>
                                  </p:childTnLst>
                                </p:cTn>
                              </p:par>
                              <p:par>
                                <p:cTn id="68" presetID="42" presetClass="entr" presetSubtype="0" fill="hold" grpId="0" nodeType="withEffect">
                                  <p:stCondLst>
                                    <p:cond delay="0"/>
                                  </p:stCondLst>
                                  <p:childTnLst>
                                    <p:set>
                                      <p:cBhvr>
                                        <p:cTn id="69" dur="1" fill="hold">
                                          <p:stCondLst>
                                            <p:cond delay="0"/>
                                          </p:stCondLst>
                                        </p:cTn>
                                        <p:tgtEl>
                                          <p:spTgt spid="16">
                                            <p:txEl>
                                              <p:pRg st="0" end="0"/>
                                            </p:txEl>
                                          </p:spTgt>
                                        </p:tgtEl>
                                        <p:attrNameLst>
                                          <p:attrName>style.visibility</p:attrName>
                                        </p:attrNameLst>
                                      </p:cBhvr>
                                      <p:to>
                                        <p:strVal val="visible"/>
                                      </p:to>
                                    </p:set>
                                    <p:animEffect transition="in" filter="fade">
                                      <p:cBhvr>
                                        <p:cTn id="70" dur="1000"/>
                                        <p:tgtEl>
                                          <p:spTgt spid="16">
                                            <p:txEl>
                                              <p:pRg st="0" end="0"/>
                                            </p:txEl>
                                          </p:spTgt>
                                        </p:tgtEl>
                                      </p:cBhvr>
                                    </p:animEffect>
                                    <p:anim calcmode="lin" valueType="num">
                                      <p:cBhvr>
                                        <p:cTn id="71"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72"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7">
                                            <p:txEl>
                                              <p:pRg st="0" end="0"/>
                                            </p:txEl>
                                          </p:spTgt>
                                        </p:tgtEl>
                                        <p:attrNameLst>
                                          <p:attrName>style.visibility</p:attrName>
                                        </p:attrNameLst>
                                      </p:cBhvr>
                                      <p:to>
                                        <p:strVal val="visible"/>
                                      </p:to>
                                    </p:set>
                                    <p:animEffect transition="in" filter="fade">
                                      <p:cBhvr>
                                        <p:cTn id="75" dur="1000"/>
                                        <p:tgtEl>
                                          <p:spTgt spid="17">
                                            <p:txEl>
                                              <p:pRg st="0" end="0"/>
                                            </p:txEl>
                                          </p:spTgt>
                                        </p:tgtEl>
                                      </p:cBhvr>
                                    </p:animEffect>
                                    <p:anim calcmode="lin" valueType="num">
                                      <p:cBhvr>
                                        <p:cTn id="76"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77"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down)">
                                      <p:cBhvr>
                                        <p:cTn id="82" dur="500"/>
                                        <p:tgtEl>
                                          <p:spTgt spid="32"/>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1000"/>
                                        <p:tgtEl>
                                          <p:spTgt spid="19">
                                            <p:txEl>
                                              <p:pRg st="0" end="0"/>
                                            </p:txEl>
                                          </p:spTgt>
                                        </p:tgtEl>
                                      </p:cBhvr>
                                    </p:animEffect>
                                    <p:anim calcmode="lin" valueType="num">
                                      <p:cBhvr>
                                        <p:cTn id="86"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87"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xEl>
                                              <p:pRg st="0" end="0"/>
                                            </p:txEl>
                                          </p:spTgt>
                                        </p:tgtEl>
                                        <p:attrNameLst>
                                          <p:attrName>style.visibility</p:attrName>
                                        </p:attrNameLst>
                                      </p:cBhvr>
                                      <p:to>
                                        <p:strVal val="visible"/>
                                      </p:to>
                                    </p:set>
                                    <p:animEffect transition="in" filter="fade">
                                      <p:cBhvr>
                                        <p:cTn id="90" dur="1000"/>
                                        <p:tgtEl>
                                          <p:spTgt spid="20">
                                            <p:txEl>
                                              <p:pRg st="0" end="0"/>
                                            </p:txEl>
                                          </p:spTgt>
                                        </p:tgtEl>
                                      </p:cBhvr>
                                    </p:animEffect>
                                    <p:anim calcmode="lin" valueType="num">
                                      <p:cBhvr>
                                        <p:cTn id="91"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92"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7" grpId="0" build="p"/>
      <p:bldP spid="8" grpId="0" build="p"/>
      <p:bldP spid="10" grpId="0" build="p"/>
      <p:bldP spid="11" grpId="0" build="p"/>
      <p:bldP spid="13" grpId="0" build="p"/>
      <p:bldP spid="14" grpId="0" build="p"/>
      <p:bldP spid="16" grpId="0" build="p"/>
      <p:bldP spid="17" grpId="0" build="p"/>
      <p:bldP spid="19" grpId="0" build="p"/>
      <p:bldP spid="2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22</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48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23</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46142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F6B846-0566-1469-3E63-BD86218B40E8}"/>
              </a:ext>
            </a:extLst>
          </p:cNvPr>
          <p:cNvSpPr txBox="1"/>
          <p:nvPr/>
        </p:nvSpPr>
        <p:spPr>
          <a:xfrm>
            <a:off x="4257040" y="3180080"/>
            <a:ext cx="3419526" cy="769441"/>
          </a:xfrm>
          <a:prstGeom prst="rect">
            <a:avLst/>
          </a:prstGeom>
          <a:noFill/>
        </p:spPr>
        <p:txBody>
          <a:bodyPr wrap="none" rtlCol="0">
            <a:spAutoFit/>
          </a:bodyPr>
          <a:lstStyle/>
          <a:p>
            <a:r>
              <a:rPr lang="en-US" sz="4400" dirty="0">
                <a:latin typeface="+mj-lt"/>
              </a:rPr>
              <a:t>Thank you.. </a:t>
            </a:r>
            <a:endParaRPr lang="en-IN" sz="4400" dirty="0">
              <a:latin typeface="+mj-lt"/>
            </a:endParaRPr>
          </a:p>
        </p:txBody>
      </p:sp>
    </p:spTree>
    <p:extLst>
      <p:ext uri="{BB962C8B-B14F-4D97-AF65-F5344CB8AC3E}">
        <p14:creationId xmlns:p14="http://schemas.microsoft.com/office/powerpoint/2010/main" val="2876130930"/>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FA78568-A730-4D3B-A489-FD854E91254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{DD8DA154-4115-4649-BA61-8E031B6B7A29}tf11429527_win32</Template>
  <TotalTime>463</TotalTime>
  <Words>2299</Words>
  <Application>Microsoft Office PowerPoint</Application>
  <PresentationFormat>Widescreen</PresentationFormat>
  <Paragraphs>158</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Calibri</vt:lpstr>
      <vt:lpstr>Calisto MT</vt:lpstr>
      <vt:lpstr>Cambria Math</vt:lpstr>
      <vt:lpstr>Century Gothic</vt:lpstr>
      <vt:lpstr>Karla</vt:lpstr>
      <vt:lpstr>Times New Roman</vt:lpstr>
      <vt:lpstr>Trebuchet MS</vt:lpstr>
      <vt:lpstr>Univers Condensed Light</vt:lpstr>
      <vt:lpstr>Office Theme</vt:lpstr>
      <vt:lpstr>PowerPoint Presentation</vt:lpstr>
      <vt:lpstr>Prediction of Air Quality Index for Mumbai Region: A Machine Learning Approach </vt:lpstr>
      <vt:lpstr>Objective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preprocessing steps: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Kumar</dc:creator>
  <cp:lastModifiedBy>Rahul Kumar</cp:lastModifiedBy>
  <cp:revision>10</cp:revision>
  <dcterms:created xsi:type="dcterms:W3CDTF">2024-09-19T00:16:47Z</dcterms:created>
  <dcterms:modified xsi:type="dcterms:W3CDTF">2024-10-25T06:41:40Z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